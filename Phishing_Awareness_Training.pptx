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going to talk about the digital equivalent of a con artist knocking on your front door: Phishing. Cybercriminals send billions of phishing emails every day, and their entire goal is to manipulate you into handing over your sensitive information, your passwords, or your money. By the end of this session, you will know exactly how to spot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Phishing is a social engineering attack. Attackers disguise themselves as a trusted entity—like your bank, your boss, or a service you use like Netflix or Amazon. They aren't hacking your computer; they are hacking your psychology. They want you to make a quick, emotional decision without thinking.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 one tool of a phisher is panic. If a message says your account will be suspended in 24 hours, or you're facing legal action, or you just won a lottery you didn't enter—stop. Real organizations rarely demand immediate, panicked action. If you feel rushed, you are likely being phished.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trust the display name. An email might say it's from 'PayPal Support,' but if you look at the actual email address, it might say something like 'support@paypa1-update-security.com'. Always verify the domain name after the '@' symbol. If it looks overly complicated, misspelled, or uses a public domain like @gmail.com for an official business, it's a trap.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click any link, hover your mouse over it. A small box will appear showing you the actual destination URL. If the button says 'Update Billing' but the URL goes to a random, unrelated website, do not click it. Similarly, never download unexpected attachments, especially unexpected invoices or receipts—these are classic delivery methods for malware.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an account with a company, they know your name. If an email starts with 'Dear Customer,' 'Dear User,' or 'Valued Member,' be skeptical. Mass phishing campaigns don't usually have the time or data to personalize every single email.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covered the theory. Now, let's see how well you can spot a scam in the wild. We are going to play a quick game of 'Spot the Phish.' I will show you a message, and I want you to tell me if it's safe, or if it's a scam.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look at this email. Raise your hand if you think this is a phish. What gives it away? Give the audience a moment to study the email and identify the red flags before moving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this down. Red Flag 1: The sender address is not chase.com — it's chase-secure-update12.com. Red Flag 2: It says 'Dear Customer' instead of your name. Red Flag 3: The urgency — '12 hours or permanently locked.' And Red Flag 4: A shortened bit.ly link instead of a secure, official chase.com domain. If you ever get an email like this, go directly to the company's website by typing it yourself, or call the number on the back of your card.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get this text from your boss, Mr. David Chen, the CEO. He says he's in a meeting and can't talk, but he needs you to buy 5 $100 Apple gift cards and send him the codes. Do you buy the gift cards? Why or why not? Give the audience time to discuss.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classic CEO fraud / business email compromise scam. Three red flags: First, gift cards are the currency of scammers — they are untraceable and unrecoverable. No legitimate business transaction uses gift cards. Second, 'I'm in a meeting and can't talk' is designed to prevent you from calling your boss to verify. Third, it's from an unknown number, not your boss's saved contact. Always verify unusual requests through a separate, known communication channel.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is tricky. It uses your real name — 'Hi John' — and the sender address looks like it's from fedex.com. The branding looks professional. Is it safe? Take a close look at the attachment. Give the audience time to study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though the sender says no-reply@fedex.com and uses your real name, the attachment gives it away. Delivery_Invoice_Details.exe is an executable file — that's malware. Delivery companies never send .exe, .zip, or .scr files. They give you a tracking number you can look up on their website.</a:t>
            </a:r>
          </a:p>
          <a:p/>
          <a:p>
            <a:r>
              <a:t>Also, explain that attackers can sometimes fake or 'spoof' the sender address to look real. This is why checking attachments and links is your ultimate defense. The 'From' field can lie.</a:t>
            </a:r>
          </a:p>
          <a:p/>
          <a:p>
            <a:r>
              <a:t>Thank you all for participating! Remember: when in doubt, verify through a separate channel. Never click, download, or respond in a panic. Stay safe!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371600"/>
            <a:ext cx="12188952" cy="1097280"/>
          </a:xfrm>
          <a:prstGeom prst="rect">
            <a:avLst/>
          </a:prstGeom>
          <a:noFill/>
        </p:spPr>
        <p:txBody>
          <a:bodyPr wrap="square">
            <a:spAutoFit/>
          </a:bodyPr>
          <a:lstStyle/>
          <a:p>
            <a:pPr algn="ctr">
              <a:spcBef>
                <a:spcPts val="0"/>
              </a:spcBef>
              <a:spcAft>
                <a:spcPts val="600"/>
              </a:spcAft>
              <a:defRPr sz="6000" b="0" i="0">
                <a:solidFill>
                  <a:srgbClr val="FFFFFF"/>
                </a:solidFill>
                <a:latin typeface="Calibri"/>
              </a:defRPr>
            </a:pPr>
            <a:r>
              <a:t>🛡️</a:t>
            </a:r>
          </a:p>
        </p:txBody>
      </p:sp>
      <p:sp>
        <p:nvSpPr>
          <p:cNvPr id="4" name="TextBox 3"/>
          <p:cNvSpPr txBox="1"/>
          <p:nvPr/>
        </p:nvSpPr>
        <p:spPr>
          <a:xfrm>
            <a:off x="1371600" y="2377440"/>
            <a:ext cx="9445752" cy="1097280"/>
          </a:xfrm>
          <a:prstGeom prst="rect">
            <a:avLst/>
          </a:prstGeom>
          <a:noFill/>
        </p:spPr>
        <p:txBody>
          <a:bodyPr wrap="square">
            <a:spAutoFit/>
          </a:bodyPr>
          <a:lstStyle/>
          <a:p>
            <a:pPr algn="ctr">
              <a:spcBef>
                <a:spcPts val="0"/>
              </a:spcBef>
              <a:spcAft>
                <a:spcPts val="600"/>
              </a:spcAft>
              <a:defRPr sz="4400" b="1" i="0">
                <a:solidFill>
                  <a:srgbClr val="FFFFFF"/>
                </a:solidFill>
                <a:latin typeface="Calibri"/>
              </a:defRPr>
            </a:pPr>
            <a:r>
              <a:t>PHISHING AWARENESS</a:t>
            </a:r>
          </a:p>
          <a:p>
            <a:pPr algn="ctr">
              <a:spcBef>
                <a:spcPts val="800"/>
              </a:spcBef>
              <a:spcAft>
                <a:spcPts val="600"/>
              </a:spcAft>
              <a:defRPr sz="2400" b="0" i="0">
                <a:solidFill>
                  <a:srgbClr val="00D4FF"/>
                </a:solidFill>
                <a:latin typeface="Calibri"/>
              </a:defRPr>
            </a:pPr>
            <a:r>
              <a:t>Don't Take the Bait</a:t>
            </a:r>
          </a:p>
        </p:txBody>
      </p:sp>
      <p:sp>
        <p:nvSpPr>
          <p:cNvPr id="5" name="TextBox 4"/>
          <p:cNvSpPr txBox="1"/>
          <p:nvPr/>
        </p:nvSpPr>
        <p:spPr>
          <a:xfrm>
            <a:off x="2286000" y="3840480"/>
            <a:ext cx="7616952" cy="731520"/>
          </a:xfrm>
          <a:prstGeom prst="rect">
            <a:avLst/>
          </a:prstGeom>
          <a:noFill/>
        </p:spPr>
        <p:txBody>
          <a:bodyPr wrap="square">
            <a:spAutoFit/>
          </a:bodyPr>
          <a:lstStyle/>
          <a:p>
            <a:pPr algn="ctr">
              <a:spcBef>
                <a:spcPts val="0"/>
              </a:spcBef>
              <a:spcAft>
                <a:spcPts val="600"/>
              </a:spcAft>
              <a:defRPr sz="1800" b="0" i="0">
                <a:solidFill>
                  <a:srgbClr val="CCCCCC"/>
                </a:solidFill>
                <a:latin typeface="Calibri"/>
              </a:defRPr>
            </a:pPr>
            <a:r>
              <a:t>How to identify and defend against phishing attacks</a:t>
            </a:r>
          </a:p>
          <a:p>
            <a:pPr algn="ctr">
              <a:spcBef>
                <a:spcPts val="600"/>
              </a:spcBef>
              <a:spcAft>
                <a:spcPts val="600"/>
              </a:spcAft>
              <a:defRPr sz="1400" b="0" i="0">
                <a:solidFill>
                  <a:srgbClr val="888899"/>
                </a:solidFill>
                <a:latin typeface="Calibri"/>
              </a:defRPr>
            </a:pPr>
            <a:r>
              <a:t>Presented by Anonymous SDMCET</a:t>
            </a:r>
          </a:p>
        </p:txBody>
      </p:sp>
      <p:sp>
        <p:nvSpPr>
          <p:cNvPr id="6" name="Rectangle 5"/>
          <p:cNvSpPr/>
          <p:nvPr/>
        </p:nvSpPr>
        <p:spPr>
          <a:xfrm>
            <a:off x="0" y="6803136"/>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4754880"/>
            <a:ext cx="7616952" cy="548640"/>
          </a:xfrm>
          <a:prstGeom prst="rect">
            <a:avLst/>
          </a:prstGeom>
          <a:noFill/>
        </p:spPr>
        <p:txBody>
          <a:bodyPr wrap="square">
            <a:spAutoFit/>
          </a:bodyPr>
          <a:lstStyle/>
          <a:p>
            <a:pPr algn="ctr">
              <a:spcBef>
                <a:spcPts val="0"/>
              </a:spcBef>
              <a:spcAft>
                <a:spcPts val="600"/>
              </a:spcAft>
              <a:defRPr sz="2200" b="1" i="0">
                <a:solidFill>
                  <a:srgbClr val="00D4FF"/>
                </a:solidFill>
                <a:latin typeface="Calibri"/>
              </a:defRPr>
            </a:pPr>
            <a:r>
              <a:t>ANONYMOUS SDMCET</a:t>
            </a:r>
          </a:p>
        </p:txBody>
      </p:sp>
      <p:sp>
        <p:nvSpPr>
          <p:cNvPr id="8" name="TextBox 7"/>
          <p:cNvSpPr txBox="1"/>
          <p:nvPr/>
        </p:nvSpPr>
        <p:spPr>
          <a:xfrm>
            <a:off x="2743200" y="5943600"/>
            <a:ext cx="6702552" cy="457200"/>
          </a:xfrm>
          <a:prstGeom prst="rect">
            <a:avLst/>
          </a:prstGeom>
          <a:noFill/>
        </p:spPr>
        <p:txBody>
          <a:bodyPr wrap="square">
            <a:spAutoFit/>
          </a:bodyPr>
          <a:lstStyle/>
          <a:p>
            <a:pPr algn="ctr">
              <a:spcBef>
                <a:spcPts val="0"/>
              </a:spcBef>
              <a:spcAft>
                <a:spcPts val="600"/>
              </a:spcAft>
              <a:defRPr sz="1400" b="0" i="0">
                <a:solidFill>
                  <a:srgbClr val="888899"/>
                </a:solidFill>
                <a:latin typeface="Calibri"/>
              </a:defRPr>
            </a:pPr>
            <a:r>
              <a:t>Cybersecurity Club  |  Interactive Training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731520"/>
          </a:xfrm>
          <a:prstGeom prst="rect">
            <a:avLst/>
          </a:prstGeom>
          <a:noFill/>
        </p:spPr>
        <p:txBody>
          <a:bodyPr wrap="square">
            <a:spAutoFit/>
          </a:bodyPr>
          <a:lstStyle/>
          <a:p>
            <a:pPr algn="l">
              <a:spcBef>
                <a:spcPts val="0"/>
              </a:spcBef>
              <a:spcAft>
                <a:spcPts val="600"/>
              </a:spcAft>
              <a:defRPr sz="3600" b="1" i="0">
                <a:solidFill>
                  <a:srgbClr val="00D4FF"/>
                </a:solidFill>
                <a:latin typeface="Calibri"/>
              </a:defRPr>
            </a:pPr>
            <a:r>
              <a:t>🎣  What is Phishing?</a:t>
            </a:r>
          </a:p>
        </p:txBody>
      </p:sp>
      <p:sp>
        <p:nvSpPr>
          <p:cNvPr id="4" name="Rounded Rectangle 3"/>
          <p:cNvSpPr/>
          <p:nvPr/>
        </p:nvSpPr>
        <p:spPr>
          <a:xfrm>
            <a:off x="731520" y="1280160"/>
            <a:ext cx="10725912" cy="13716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2000" b="0" i="0">
                <a:solidFill>
                  <a:srgbClr val="FFFFFF"/>
                </a:solidFill>
                <a:latin typeface="Calibri"/>
              </a:defRPr>
            </a:pPr>
            <a:r>
              <a:t>A social engineering attack where cybercriminals impersonate trusted entities to trick you into revealing sensitive information.</a:t>
            </a:r>
          </a:p>
        </p:txBody>
      </p:sp>
      <p:sp>
        <p:nvSpPr>
          <p:cNvPr id="5" name="Rounded Rectangle 4"/>
          <p:cNvSpPr/>
          <p:nvPr/>
        </p:nvSpPr>
        <p:spPr>
          <a:xfrm>
            <a:off x="731520" y="3108960"/>
            <a:ext cx="3200400" cy="3200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400"/>
              </a:spcAft>
              <a:defRPr sz="1700" b="1" i="0">
                <a:solidFill>
                  <a:srgbClr val="00D4FF"/>
                </a:solidFill>
                <a:latin typeface="Calibri"/>
              </a:defRPr>
            </a:pPr>
            <a:r>
              <a:t>🎭  They Pretend To Be...</a:t>
            </a:r>
          </a:p>
          <a:p>
            <a:pPr algn="l">
              <a:spcBef>
                <a:spcPts val="0"/>
              </a:spcBef>
              <a:spcAft>
                <a:spcPts val="800"/>
              </a:spcAft>
              <a:defRPr sz="1500" b="0" i="0">
                <a:solidFill>
                  <a:srgbClr val="CCCCCC"/>
                </a:solidFill>
                <a:latin typeface="Calibri"/>
              </a:defRPr>
            </a:pPr>
            <a:r>
              <a:t>•  Your bank</a:t>
            </a:r>
          </a:p>
          <a:p>
            <a:pPr algn="l">
              <a:spcBef>
                <a:spcPts val="0"/>
              </a:spcBef>
              <a:spcAft>
                <a:spcPts val="800"/>
              </a:spcAft>
              <a:defRPr sz="1500" b="0" i="0">
                <a:solidFill>
                  <a:srgbClr val="CCCCCC"/>
                </a:solidFill>
                <a:latin typeface="Calibri"/>
              </a:defRPr>
            </a:pPr>
            <a:r>
              <a:t>•  Your boss / CEO</a:t>
            </a:r>
          </a:p>
          <a:p>
            <a:pPr algn="l">
              <a:spcBef>
                <a:spcPts val="0"/>
              </a:spcBef>
              <a:spcAft>
                <a:spcPts val="800"/>
              </a:spcAft>
              <a:defRPr sz="1500" b="0" i="0">
                <a:solidFill>
                  <a:srgbClr val="CCCCCC"/>
                </a:solidFill>
                <a:latin typeface="Calibri"/>
              </a:defRPr>
            </a:pPr>
            <a:r>
              <a:t>•  Netflix, Amazon, FedEx</a:t>
            </a:r>
          </a:p>
          <a:p>
            <a:pPr algn="l">
              <a:spcBef>
                <a:spcPts val="0"/>
              </a:spcBef>
              <a:spcAft>
                <a:spcPts val="800"/>
              </a:spcAft>
              <a:defRPr sz="1500" b="0" i="0">
                <a:solidFill>
                  <a:srgbClr val="CCCCCC"/>
                </a:solidFill>
                <a:latin typeface="Calibri"/>
              </a:defRPr>
            </a:pPr>
            <a:r>
              <a:t>•  Tech support</a:t>
            </a:r>
          </a:p>
          <a:p>
            <a:pPr algn="l">
              <a:spcBef>
                <a:spcPts val="0"/>
              </a:spcBef>
              <a:spcAft>
                <a:spcPts val="800"/>
              </a:spcAft>
              <a:defRPr sz="1500" b="0" i="0">
                <a:solidFill>
                  <a:srgbClr val="CCCCCC"/>
                </a:solidFill>
                <a:latin typeface="Calibri"/>
              </a:defRPr>
            </a:pPr>
            <a:r>
              <a:t>•  Government agencies</a:t>
            </a:r>
          </a:p>
        </p:txBody>
      </p:sp>
      <p:sp>
        <p:nvSpPr>
          <p:cNvPr id="6" name="Rounded Rectangle 5"/>
          <p:cNvSpPr/>
          <p:nvPr/>
        </p:nvSpPr>
        <p:spPr>
          <a:xfrm>
            <a:off x="4480560" y="3108960"/>
            <a:ext cx="3200400" cy="3200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400"/>
              </a:spcAft>
              <a:defRPr sz="1700" b="1" i="0">
                <a:solidFill>
                  <a:srgbClr val="00D4FF"/>
                </a:solidFill>
                <a:latin typeface="Calibri"/>
              </a:defRPr>
            </a:pPr>
            <a:r>
              <a:t>🧠  They Target...</a:t>
            </a:r>
          </a:p>
          <a:p>
            <a:pPr algn="l">
              <a:spcBef>
                <a:spcPts val="0"/>
              </a:spcBef>
              <a:spcAft>
                <a:spcPts val="800"/>
              </a:spcAft>
              <a:defRPr sz="1500" b="0" i="0">
                <a:solidFill>
                  <a:srgbClr val="CCCCCC"/>
                </a:solidFill>
                <a:latin typeface="Calibri"/>
              </a:defRPr>
            </a:pPr>
            <a:r>
              <a:t>•  Your trust</a:t>
            </a:r>
          </a:p>
          <a:p>
            <a:pPr algn="l">
              <a:spcBef>
                <a:spcPts val="0"/>
              </a:spcBef>
              <a:spcAft>
                <a:spcPts val="800"/>
              </a:spcAft>
              <a:defRPr sz="1500" b="0" i="0">
                <a:solidFill>
                  <a:srgbClr val="CCCCCC"/>
                </a:solidFill>
                <a:latin typeface="Calibri"/>
              </a:defRPr>
            </a:pPr>
            <a:r>
              <a:t>•  Your emotions (fear, greed)</a:t>
            </a:r>
          </a:p>
          <a:p>
            <a:pPr algn="l">
              <a:spcBef>
                <a:spcPts val="0"/>
              </a:spcBef>
              <a:spcAft>
                <a:spcPts val="800"/>
              </a:spcAft>
              <a:defRPr sz="1500" b="0" i="0">
                <a:solidFill>
                  <a:srgbClr val="CCCCCC"/>
                </a:solidFill>
                <a:latin typeface="Calibri"/>
              </a:defRPr>
            </a:pPr>
            <a:r>
              <a:t>•  Your urgency to act</a:t>
            </a:r>
          </a:p>
          <a:p>
            <a:pPr algn="l">
              <a:spcBef>
                <a:spcPts val="0"/>
              </a:spcBef>
              <a:spcAft>
                <a:spcPts val="800"/>
              </a:spcAft>
              <a:defRPr sz="1500" b="0" i="0">
                <a:solidFill>
                  <a:srgbClr val="CCCCCC"/>
                </a:solidFill>
                <a:latin typeface="Calibri"/>
              </a:defRPr>
            </a:pPr>
            <a:r>
              <a:t>•  Your lack of attention</a:t>
            </a:r>
          </a:p>
          <a:p>
            <a:pPr algn="l">
              <a:spcBef>
                <a:spcPts val="0"/>
              </a:spcBef>
              <a:spcAft>
                <a:spcPts val="800"/>
              </a:spcAft>
              <a:defRPr sz="1500" b="0" i="0">
                <a:solidFill>
                  <a:srgbClr val="CCCCCC"/>
                </a:solidFill>
                <a:latin typeface="Calibri"/>
              </a:defRPr>
            </a:pPr>
            <a:r>
              <a:t>•  Your helpful nature</a:t>
            </a:r>
          </a:p>
        </p:txBody>
      </p:sp>
      <p:sp>
        <p:nvSpPr>
          <p:cNvPr id="7" name="Rounded Rectangle 6"/>
          <p:cNvSpPr/>
          <p:nvPr/>
        </p:nvSpPr>
        <p:spPr>
          <a:xfrm>
            <a:off x="8229600" y="3108960"/>
            <a:ext cx="3200400" cy="3200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400"/>
              </a:spcAft>
              <a:defRPr sz="1700" b="1" i="0">
                <a:solidFill>
                  <a:srgbClr val="00D4FF"/>
                </a:solidFill>
                <a:latin typeface="Calibri"/>
              </a:defRPr>
            </a:pPr>
            <a:r>
              <a:t>💰  They Want...</a:t>
            </a:r>
          </a:p>
          <a:p>
            <a:pPr algn="l">
              <a:spcBef>
                <a:spcPts val="0"/>
              </a:spcBef>
              <a:spcAft>
                <a:spcPts val="800"/>
              </a:spcAft>
              <a:defRPr sz="1500" b="0" i="0">
                <a:solidFill>
                  <a:srgbClr val="CCCCCC"/>
                </a:solidFill>
                <a:latin typeface="Calibri"/>
              </a:defRPr>
            </a:pPr>
            <a:r>
              <a:t>•  Passwords &amp; logins</a:t>
            </a:r>
          </a:p>
          <a:p>
            <a:pPr algn="l">
              <a:spcBef>
                <a:spcPts val="0"/>
              </a:spcBef>
              <a:spcAft>
                <a:spcPts val="800"/>
              </a:spcAft>
              <a:defRPr sz="1500" b="0" i="0">
                <a:solidFill>
                  <a:srgbClr val="CCCCCC"/>
                </a:solidFill>
                <a:latin typeface="Calibri"/>
              </a:defRPr>
            </a:pPr>
            <a:r>
              <a:t>•  Credit card numbers</a:t>
            </a:r>
          </a:p>
          <a:p>
            <a:pPr algn="l">
              <a:spcBef>
                <a:spcPts val="0"/>
              </a:spcBef>
              <a:spcAft>
                <a:spcPts val="800"/>
              </a:spcAft>
              <a:defRPr sz="1500" b="0" i="0">
                <a:solidFill>
                  <a:srgbClr val="CCCCCC"/>
                </a:solidFill>
                <a:latin typeface="Calibri"/>
              </a:defRPr>
            </a:pPr>
            <a:r>
              <a:t>•  Personal data (SSN, DOB)</a:t>
            </a:r>
          </a:p>
          <a:p>
            <a:pPr algn="l">
              <a:spcBef>
                <a:spcPts val="0"/>
              </a:spcBef>
              <a:spcAft>
                <a:spcPts val="800"/>
              </a:spcAft>
              <a:defRPr sz="1500" b="0" i="0">
                <a:solidFill>
                  <a:srgbClr val="CCCCCC"/>
                </a:solidFill>
                <a:latin typeface="Calibri"/>
              </a:defRPr>
            </a:pPr>
            <a:r>
              <a:t>•  Money transfers</a:t>
            </a:r>
          </a:p>
          <a:p>
            <a:pPr algn="l">
              <a:spcBef>
                <a:spcPts val="0"/>
              </a:spcBef>
              <a:spcAft>
                <a:spcPts val="800"/>
              </a:spcAft>
              <a:defRPr sz="1500" b="0" i="0">
                <a:solidFill>
                  <a:srgbClr val="CCCCCC"/>
                </a:solidFill>
                <a:latin typeface="Calibri"/>
              </a:defRPr>
            </a:pPr>
            <a:r>
              <a:t>•  Access to your systems</a:t>
            </a:r>
          </a:p>
        </p:txBody>
      </p:sp>
      <p:sp>
        <p:nvSpPr>
          <p:cNvPr id="8" name="TextBox 7"/>
          <p:cNvSpPr txBox="1"/>
          <p:nvPr/>
        </p:nvSpPr>
        <p:spPr>
          <a:xfrm>
            <a:off x="914400" y="6400800"/>
            <a:ext cx="10360152" cy="365760"/>
          </a:xfrm>
          <a:prstGeom prst="rect">
            <a:avLst/>
          </a:prstGeom>
          <a:noFill/>
        </p:spPr>
        <p:txBody>
          <a:bodyPr wrap="square">
            <a:spAutoFit/>
          </a:bodyPr>
          <a:lstStyle/>
          <a:p>
            <a:pPr algn="ctr">
              <a:spcBef>
                <a:spcPts val="0"/>
              </a:spcBef>
              <a:spcAft>
                <a:spcPts val="600"/>
              </a:spcAft>
              <a:defRPr sz="1600" b="0" i="1">
                <a:solidFill>
                  <a:srgbClr val="FFD700"/>
                </a:solidFill>
                <a:latin typeface="Calibri"/>
              </a:defRPr>
            </a:pPr>
            <a:r>
              <a:t>"They aren't hacking your computer — they are hacking your psychology."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164592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RED FLAG #1</a:t>
            </a:r>
          </a:p>
        </p:txBody>
      </p:sp>
      <p:sp>
        <p:nvSpPr>
          <p:cNvPr id="4" name="TextBox 3"/>
          <p:cNvSpPr txBox="1"/>
          <p:nvPr/>
        </p:nvSpPr>
        <p:spPr>
          <a:xfrm>
            <a:off x="2468880" y="228600"/>
            <a:ext cx="9144000" cy="640080"/>
          </a:xfrm>
          <a:prstGeom prst="rect">
            <a:avLst/>
          </a:prstGeom>
          <a:noFill/>
        </p:spPr>
        <p:txBody>
          <a:bodyPr wrap="square">
            <a:spAutoFit/>
          </a:bodyPr>
          <a:lstStyle/>
          <a:p>
            <a:pPr algn="l">
              <a:spcBef>
                <a:spcPts val="0"/>
              </a:spcBef>
              <a:spcAft>
                <a:spcPts val="600"/>
              </a:spcAft>
              <a:defRPr sz="3400" b="1" i="0">
                <a:solidFill>
                  <a:srgbClr val="FFFFFF"/>
                </a:solidFill>
                <a:latin typeface="Calibri"/>
              </a:defRPr>
            </a:pPr>
            <a:r>
              <a:t>⏰  The Sense of Urgency</a:t>
            </a:r>
          </a:p>
        </p:txBody>
      </p:sp>
      <p:sp>
        <p:nvSpPr>
          <p:cNvPr id="5" name="Rounded Rectangle 4"/>
          <p:cNvSpPr/>
          <p:nvPr/>
        </p:nvSpPr>
        <p:spPr>
          <a:xfrm>
            <a:off x="731520" y="1188720"/>
            <a:ext cx="10725912" cy="20116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600"/>
              </a:spcAft>
              <a:defRPr sz="2400" b="1" i="0">
                <a:solidFill>
                  <a:srgbClr val="FF4444"/>
                </a:solidFill>
                <a:latin typeface="Calibri"/>
              </a:defRPr>
            </a:pPr>
            <a:r>
              <a:t>Phishers want you to PANIC and ACT without THINKING.</a:t>
            </a:r>
          </a:p>
          <a:p>
            <a:pPr algn="ctr">
              <a:spcBef>
                <a:spcPts val="0"/>
              </a:spcBef>
              <a:spcAft>
                <a:spcPts val="600"/>
              </a:spcAft>
              <a:defRPr sz="2000" b="1" i="0">
                <a:solidFill>
                  <a:srgbClr val="FFD700"/>
                </a:solidFill>
                <a:latin typeface="Calibri"/>
              </a:defRPr>
            </a:pPr>
            <a:r>
              <a:t>If you feel RUSHED, you are likely being PHISHED.</a:t>
            </a:r>
          </a:p>
        </p:txBody>
      </p:sp>
      <p:sp>
        <p:nvSpPr>
          <p:cNvPr id="6" name="Rounded Rectangle 5"/>
          <p:cNvSpPr/>
          <p:nvPr/>
        </p:nvSpPr>
        <p:spPr>
          <a:xfrm>
            <a:off x="731520" y="3566160"/>
            <a:ext cx="3383280" cy="155448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400"/>
              </a:spcAft>
              <a:defRPr sz="3000" b="0" i="0">
                <a:solidFill>
                  <a:srgbClr val="FFFFFF"/>
                </a:solidFill>
                <a:latin typeface="Calibri"/>
              </a:defRPr>
            </a:pPr>
            <a:r>
              <a:t>⚡</a:t>
            </a:r>
          </a:p>
          <a:p>
            <a:pPr algn="ctr">
              <a:spcBef>
                <a:spcPts val="0"/>
              </a:spcBef>
              <a:spcAft>
                <a:spcPts val="600"/>
              </a:spcAft>
              <a:defRPr sz="1600" b="0" i="0">
                <a:solidFill>
                  <a:srgbClr val="CCCCCC"/>
                </a:solidFill>
                <a:latin typeface="Calibri"/>
              </a:defRPr>
            </a:pPr>
            <a:r>
              <a:t>"Your account will be</a:t>
            </a:r>
            <a:br/>
            <a:r>
              <a:t>suspended in 24 hours!"</a:t>
            </a:r>
          </a:p>
        </p:txBody>
      </p:sp>
      <p:sp>
        <p:nvSpPr>
          <p:cNvPr id="7" name="Rounded Rectangle 6"/>
          <p:cNvSpPr/>
          <p:nvPr/>
        </p:nvSpPr>
        <p:spPr>
          <a:xfrm>
            <a:off x="4389120" y="3566160"/>
            <a:ext cx="3383280" cy="155448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400"/>
              </a:spcAft>
              <a:defRPr sz="3000" b="0" i="0">
                <a:solidFill>
                  <a:srgbClr val="FFFFFF"/>
                </a:solidFill>
                <a:latin typeface="Calibri"/>
              </a:defRPr>
            </a:pPr>
            <a:r>
              <a:t>⚖️</a:t>
            </a:r>
          </a:p>
          <a:p>
            <a:pPr algn="ctr">
              <a:spcBef>
                <a:spcPts val="0"/>
              </a:spcBef>
              <a:spcAft>
                <a:spcPts val="600"/>
              </a:spcAft>
              <a:defRPr sz="1600" b="0" i="0">
                <a:solidFill>
                  <a:srgbClr val="CCCCCC"/>
                </a:solidFill>
                <a:latin typeface="Calibri"/>
              </a:defRPr>
            </a:pPr>
            <a:r>
              <a:t>"You are facing</a:t>
            </a:r>
            <a:br/>
            <a:r>
              <a:t>immediate legal action!"</a:t>
            </a:r>
          </a:p>
        </p:txBody>
      </p:sp>
      <p:sp>
        <p:nvSpPr>
          <p:cNvPr id="8" name="Rounded Rectangle 7"/>
          <p:cNvSpPr/>
          <p:nvPr/>
        </p:nvSpPr>
        <p:spPr>
          <a:xfrm>
            <a:off x="8046720" y="3566160"/>
            <a:ext cx="3383280" cy="155448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400"/>
              </a:spcAft>
              <a:defRPr sz="3000" b="0" i="0">
                <a:solidFill>
                  <a:srgbClr val="FFFFFF"/>
                </a:solidFill>
                <a:latin typeface="Calibri"/>
              </a:defRPr>
            </a:pPr>
            <a:r>
              <a:t>🎰</a:t>
            </a:r>
          </a:p>
          <a:p>
            <a:pPr algn="ctr">
              <a:spcBef>
                <a:spcPts val="0"/>
              </a:spcBef>
              <a:spcAft>
                <a:spcPts val="600"/>
              </a:spcAft>
              <a:defRPr sz="1600" b="0" i="0">
                <a:solidFill>
                  <a:srgbClr val="CCCCCC"/>
                </a:solidFill>
                <a:latin typeface="Calibri"/>
              </a:defRPr>
            </a:pPr>
            <a:r>
              <a:t>"You've won! Claim your</a:t>
            </a:r>
            <a:br/>
            <a:r>
              <a:t>prize before it expires!"</a:t>
            </a:r>
          </a:p>
        </p:txBody>
      </p:sp>
      <p:sp>
        <p:nvSpPr>
          <p:cNvPr id="9" name="Rounded Rectangle 8"/>
          <p:cNvSpPr/>
          <p:nvPr/>
        </p:nvSpPr>
        <p:spPr>
          <a:xfrm>
            <a:off x="1371600" y="5486400"/>
            <a:ext cx="9445752" cy="822960"/>
          </a:xfrm>
          <a:prstGeom prst="roundRect">
            <a:avLst/>
          </a:prstGeom>
          <a:solidFill>
            <a:srgbClr val="16213E"/>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1600" b="0" i="0">
                <a:solidFill>
                  <a:srgbClr val="44FF88"/>
                </a:solidFill>
                <a:latin typeface="Calibri"/>
              </a:defRPr>
            </a:pPr>
            <a:r>
              <a:t>✅  Real organizations rarely demand immediate, panicked action. When in doubt, contact the company directly using a known phone number or website.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164592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RED FLAG #2</a:t>
            </a:r>
          </a:p>
        </p:txBody>
      </p:sp>
      <p:sp>
        <p:nvSpPr>
          <p:cNvPr id="4" name="TextBox 3"/>
          <p:cNvSpPr txBox="1"/>
          <p:nvPr/>
        </p:nvSpPr>
        <p:spPr>
          <a:xfrm>
            <a:off x="2468880" y="228600"/>
            <a:ext cx="9144000" cy="640080"/>
          </a:xfrm>
          <a:prstGeom prst="rect">
            <a:avLst/>
          </a:prstGeom>
          <a:noFill/>
        </p:spPr>
        <p:txBody>
          <a:bodyPr wrap="square">
            <a:spAutoFit/>
          </a:bodyPr>
          <a:lstStyle/>
          <a:p>
            <a:pPr algn="l">
              <a:spcBef>
                <a:spcPts val="0"/>
              </a:spcBef>
              <a:spcAft>
                <a:spcPts val="600"/>
              </a:spcAft>
              <a:defRPr sz="3400" b="1" i="0">
                <a:solidFill>
                  <a:srgbClr val="FFFFFF"/>
                </a:solidFill>
                <a:latin typeface="Calibri"/>
              </a:defRPr>
            </a:pPr>
            <a:r>
              <a:t>📧  The Sender Address</a:t>
            </a:r>
          </a:p>
        </p:txBody>
      </p:sp>
      <p:sp>
        <p:nvSpPr>
          <p:cNvPr id="5" name="Rounded Rectangle 4"/>
          <p:cNvSpPr/>
          <p:nvPr/>
        </p:nvSpPr>
        <p:spPr>
          <a:xfrm>
            <a:off x="731520" y="1188720"/>
            <a:ext cx="10725912" cy="128016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200"/>
              </a:spcAft>
              <a:defRPr sz="2200" b="1" i="0">
                <a:solidFill>
                  <a:srgbClr val="FFD700"/>
                </a:solidFill>
                <a:latin typeface="Calibri"/>
              </a:defRPr>
            </a:pPr>
            <a:r>
              <a:t>Never trust the display name. Always check the ACTUAL email address.</a:t>
            </a:r>
          </a:p>
          <a:p>
            <a:pPr algn="ctr">
              <a:spcBef>
                <a:spcPts val="0"/>
              </a:spcBef>
              <a:spcAft>
                <a:spcPts val="600"/>
              </a:spcAft>
              <a:defRPr sz="1700" b="0" i="0">
                <a:solidFill>
                  <a:srgbClr val="CCCCCC"/>
                </a:solidFill>
                <a:latin typeface="Calibri"/>
              </a:defRPr>
            </a:pPr>
            <a:r>
              <a:t>The display name can say anything. The domain after @ is what matters.</a:t>
            </a:r>
          </a:p>
        </p:txBody>
      </p:sp>
      <p:sp>
        <p:nvSpPr>
          <p:cNvPr id="6" name="Rounded Rectangle 5"/>
          <p:cNvSpPr/>
          <p:nvPr/>
        </p:nvSpPr>
        <p:spPr>
          <a:xfrm>
            <a:off x="731520" y="2834640"/>
            <a:ext cx="5120640" cy="310896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200"/>
              </a:spcAft>
              <a:defRPr sz="2000" b="1" i="0">
                <a:solidFill>
                  <a:srgbClr val="FF4444"/>
                </a:solidFill>
                <a:latin typeface="Calibri"/>
              </a:defRPr>
            </a:pPr>
            <a:r>
              <a:t>❌  FAKE</a:t>
            </a:r>
          </a:p>
          <a:p>
            <a:pPr algn="l">
              <a:spcBef>
                <a:spcPts val="0"/>
              </a:spcBef>
              <a:spcAft>
                <a:spcPts val="400"/>
              </a:spcAft>
              <a:defRPr sz="1500" b="0" i="0">
                <a:solidFill>
                  <a:srgbClr val="CCCCCC"/>
                </a:solidFill>
                <a:latin typeface="Calibri"/>
              </a:defRPr>
            </a:pPr>
            <a:r>
              <a:t>Display:  PayPal Support</a:t>
            </a:r>
          </a:p>
          <a:p>
            <a:pPr algn="l">
              <a:spcBef>
                <a:spcPts val="0"/>
              </a:spcBef>
              <a:spcAft>
                <a:spcPts val="1600"/>
              </a:spcAft>
              <a:defRPr sz="1400" b="1" i="0">
                <a:solidFill>
                  <a:srgbClr val="FF4444"/>
                </a:solidFill>
                <a:latin typeface="Calibri"/>
              </a:defRPr>
            </a:pPr>
            <a:r>
              <a:t>Actual:   support@paypa1-update-security.com</a:t>
            </a:r>
          </a:p>
          <a:p>
            <a:pPr algn="l">
              <a:spcBef>
                <a:spcPts val="0"/>
              </a:spcBef>
              <a:spcAft>
                <a:spcPts val="400"/>
              </a:spcAft>
              <a:defRPr sz="1500" b="0" i="0">
                <a:solidFill>
                  <a:srgbClr val="CCCCCC"/>
                </a:solidFill>
                <a:latin typeface="Calibri"/>
              </a:defRPr>
            </a:pPr>
            <a:r>
              <a:t>Display:  Apple ID</a:t>
            </a:r>
          </a:p>
          <a:p>
            <a:pPr algn="l">
              <a:spcBef>
                <a:spcPts val="0"/>
              </a:spcBef>
              <a:spcAft>
                <a:spcPts val="1600"/>
              </a:spcAft>
              <a:defRPr sz="1400" b="1" i="0">
                <a:solidFill>
                  <a:srgbClr val="FF4444"/>
                </a:solidFill>
                <a:latin typeface="Calibri"/>
              </a:defRPr>
            </a:pPr>
            <a:r>
              <a:t>Actual:   noreply@apple-id-verify.info</a:t>
            </a:r>
          </a:p>
          <a:p>
            <a:pPr algn="l">
              <a:spcBef>
                <a:spcPts val="0"/>
              </a:spcBef>
              <a:spcAft>
                <a:spcPts val="400"/>
              </a:spcAft>
              <a:defRPr sz="1500" b="0" i="0">
                <a:solidFill>
                  <a:srgbClr val="CCCCCC"/>
                </a:solidFill>
                <a:latin typeface="Calibri"/>
              </a:defRPr>
            </a:pPr>
            <a:r>
              <a:t>Display:  Microsoft Account</a:t>
            </a:r>
          </a:p>
          <a:p>
            <a:pPr algn="l">
              <a:spcBef>
                <a:spcPts val="0"/>
              </a:spcBef>
              <a:spcAft>
                <a:spcPts val="600"/>
              </a:spcAft>
              <a:defRPr sz="1400" b="1" i="0">
                <a:solidFill>
                  <a:srgbClr val="FF4444"/>
                </a:solidFill>
                <a:latin typeface="Calibri"/>
              </a:defRPr>
            </a:pPr>
            <a:r>
              <a:t>Actual:   alert@microsoft365-security.org</a:t>
            </a:r>
          </a:p>
        </p:txBody>
      </p:sp>
      <p:sp>
        <p:nvSpPr>
          <p:cNvPr id="7" name="Rounded Rectangle 6"/>
          <p:cNvSpPr/>
          <p:nvPr/>
        </p:nvSpPr>
        <p:spPr>
          <a:xfrm>
            <a:off x="6336792" y="2834640"/>
            <a:ext cx="5120640" cy="3108960"/>
          </a:xfrm>
          <a:prstGeom prst="roundRect">
            <a:avLst/>
          </a:prstGeom>
          <a:solidFill>
            <a:srgbClr val="25253A"/>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200"/>
              </a:spcAft>
              <a:defRPr sz="2000" b="1" i="0">
                <a:solidFill>
                  <a:srgbClr val="44FF88"/>
                </a:solidFill>
                <a:latin typeface="Calibri"/>
              </a:defRPr>
            </a:pPr>
            <a:r>
              <a:t>✅  LEGITIMATE</a:t>
            </a:r>
          </a:p>
          <a:p>
            <a:pPr algn="l">
              <a:spcBef>
                <a:spcPts val="0"/>
              </a:spcBef>
              <a:spcAft>
                <a:spcPts val="400"/>
              </a:spcAft>
              <a:defRPr sz="1500" b="0" i="0">
                <a:solidFill>
                  <a:srgbClr val="CCCCCC"/>
                </a:solidFill>
                <a:latin typeface="Calibri"/>
              </a:defRPr>
            </a:pPr>
            <a:r>
              <a:t>Display:  PayPal</a:t>
            </a:r>
          </a:p>
          <a:p>
            <a:pPr algn="l">
              <a:spcBef>
                <a:spcPts val="0"/>
              </a:spcBef>
              <a:spcAft>
                <a:spcPts val="1600"/>
              </a:spcAft>
              <a:defRPr sz="1400" b="1" i="0">
                <a:solidFill>
                  <a:srgbClr val="44FF88"/>
                </a:solidFill>
                <a:latin typeface="Calibri"/>
              </a:defRPr>
            </a:pPr>
            <a:r>
              <a:t>Actual:   service@paypal.com</a:t>
            </a:r>
          </a:p>
          <a:p>
            <a:pPr algn="l">
              <a:spcBef>
                <a:spcPts val="0"/>
              </a:spcBef>
              <a:spcAft>
                <a:spcPts val="400"/>
              </a:spcAft>
              <a:defRPr sz="1500" b="0" i="0">
                <a:solidFill>
                  <a:srgbClr val="CCCCCC"/>
                </a:solidFill>
                <a:latin typeface="Calibri"/>
              </a:defRPr>
            </a:pPr>
            <a:r>
              <a:t>Display:  Apple</a:t>
            </a:r>
          </a:p>
          <a:p>
            <a:pPr algn="l">
              <a:spcBef>
                <a:spcPts val="0"/>
              </a:spcBef>
              <a:spcAft>
                <a:spcPts val="1600"/>
              </a:spcAft>
              <a:defRPr sz="1400" b="1" i="0">
                <a:solidFill>
                  <a:srgbClr val="44FF88"/>
                </a:solidFill>
                <a:latin typeface="Calibri"/>
              </a:defRPr>
            </a:pPr>
            <a:r>
              <a:t>Actual:   noreply@apple.com</a:t>
            </a:r>
          </a:p>
          <a:p>
            <a:pPr algn="l">
              <a:spcBef>
                <a:spcPts val="0"/>
              </a:spcBef>
              <a:spcAft>
                <a:spcPts val="400"/>
              </a:spcAft>
              <a:defRPr sz="1500" b="0" i="0">
                <a:solidFill>
                  <a:srgbClr val="CCCCCC"/>
                </a:solidFill>
                <a:latin typeface="Calibri"/>
              </a:defRPr>
            </a:pPr>
            <a:r>
              <a:t>Display:  Microsoft Account Team</a:t>
            </a:r>
          </a:p>
          <a:p>
            <a:pPr algn="l">
              <a:spcBef>
                <a:spcPts val="0"/>
              </a:spcBef>
              <a:spcAft>
                <a:spcPts val="600"/>
              </a:spcAft>
              <a:defRPr sz="1400" b="1" i="0">
                <a:solidFill>
                  <a:srgbClr val="44FF88"/>
                </a:solidFill>
                <a:latin typeface="Calibri"/>
              </a:defRPr>
            </a:pPr>
            <a:r>
              <a:t>Actual:   account-security@microsoft.com</a:t>
            </a:r>
          </a:p>
        </p:txBody>
      </p:sp>
      <p:sp>
        <p:nvSpPr>
          <p:cNvPr id="8" name="Rounded Rectangle 7"/>
          <p:cNvSpPr/>
          <p:nvPr/>
        </p:nvSpPr>
        <p:spPr>
          <a:xfrm>
            <a:off x="1371600" y="6217920"/>
            <a:ext cx="9445752" cy="54864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1400" b="0" i="0">
                <a:solidFill>
                  <a:srgbClr val="00D4FF"/>
                </a:solidFill>
                <a:latin typeface="Calibri"/>
              </a:defRPr>
            </a:pPr>
            <a:r>
              <a:t>💡  Watch for: misspellings (paypa1 vs paypal), extra subdomains, public domains (@gmail.com), unusual TLDs (.info, .xyz)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164592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RED FLAG #3</a:t>
            </a:r>
          </a:p>
        </p:txBody>
      </p:sp>
      <p:sp>
        <p:nvSpPr>
          <p:cNvPr id="4" name="TextBox 3"/>
          <p:cNvSpPr txBox="1"/>
          <p:nvPr/>
        </p:nvSpPr>
        <p:spPr>
          <a:xfrm>
            <a:off x="2468880" y="228600"/>
            <a:ext cx="9144000" cy="640080"/>
          </a:xfrm>
          <a:prstGeom prst="rect">
            <a:avLst/>
          </a:prstGeom>
          <a:noFill/>
        </p:spPr>
        <p:txBody>
          <a:bodyPr wrap="square">
            <a:spAutoFit/>
          </a:bodyPr>
          <a:lstStyle/>
          <a:p>
            <a:pPr algn="l">
              <a:spcBef>
                <a:spcPts val="0"/>
              </a:spcBef>
              <a:spcAft>
                <a:spcPts val="600"/>
              </a:spcAft>
              <a:defRPr sz="3400" b="1" i="0">
                <a:solidFill>
                  <a:srgbClr val="FFFFFF"/>
                </a:solidFill>
                <a:latin typeface="Calibri"/>
              </a:defRPr>
            </a:pPr>
            <a:r>
              <a:t>🔗  Suspicious Links &amp; Attachments</a:t>
            </a:r>
          </a:p>
        </p:txBody>
      </p:sp>
      <p:sp>
        <p:nvSpPr>
          <p:cNvPr id="5" name="Rounded Rectangle 4"/>
          <p:cNvSpPr/>
          <p:nvPr/>
        </p:nvSpPr>
        <p:spPr>
          <a:xfrm>
            <a:off x="731520" y="1188720"/>
            <a:ext cx="5120640" cy="475488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400"/>
              </a:spcAft>
              <a:defRPr sz="2000" b="1" i="0">
                <a:solidFill>
                  <a:srgbClr val="FF8C00"/>
                </a:solidFill>
                <a:latin typeface="Calibri"/>
              </a:defRPr>
            </a:pPr>
            <a:r>
              <a:t>🖱️  HOVER BEFORE YOU CLICK</a:t>
            </a:r>
          </a:p>
          <a:p>
            <a:pPr algn="l">
              <a:spcBef>
                <a:spcPts val="0"/>
              </a:spcBef>
              <a:spcAft>
                <a:spcPts val="1600"/>
              </a:spcAft>
              <a:defRPr sz="1500" b="0" i="0">
                <a:solidFill>
                  <a:srgbClr val="CCCCCC"/>
                </a:solidFill>
                <a:latin typeface="Calibri"/>
              </a:defRPr>
            </a:pPr>
            <a:r>
              <a:t>When you hover over a link, a tooltip shows the real URL.</a:t>
            </a:r>
          </a:p>
          <a:p>
            <a:pPr algn="l">
              <a:spcBef>
                <a:spcPts val="0"/>
              </a:spcBef>
              <a:spcAft>
                <a:spcPts val="400"/>
              </a:spcAft>
              <a:defRPr sz="1400" b="1" i="0">
                <a:solidFill>
                  <a:srgbClr val="888899"/>
                </a:solidFill>
                <a:latin typeface="Calibri"/>
              </a:defRPr>
            </a:pPr>
            <a:r>
              <a:t>What you SEE:</a:t>
            </a:r>
          </a:p>
          <a:p>
            <a:pPr algn="l">
              <a:spcBef>
                <a:spcPts val="0"/>
              </a:spcBef>
              <a:spcAft>
                <a:spcPts val="1200"/>
              </a:spcAft>
              <a:defRPr sz="1600" b="0" i="0">
                <a:solidFill>
                  <a:srgbClr val="00D4FF"/>
                </a:solidFill>
                <a:latin typeface="Calibri"/>
              </a:defRPr>
            </a:pPr>
            <a:r>
              <a:t>  "Click here to update your billing"</a:t>
            </a:r>
          </a:p>
          <a:p>
            <a:pPr algn="l">
              <a:spcBef>
                <a:spcPts val="0"/>
              </a:spcBef>
              <a:spcAft>
                <a:spcPts val="400"/>
              </a:spcAft>
              <a:defRPr sz="1400" b="1" i="0">
                <a:solidFill>
                  <a:srgbClr val="888899"/>
                </a:solidFill>
                <a:latin typeface="Calibri"/>
              </a:defRPr>
            </a:pPr>
            <a:r>
              <a:t>What it ACTUALLY links to:</a:t>
            </a:r>
          </a:p>
          <a:p>
            <a:pPr algn="l">
              <a:spcBef>
                <a:spcPts val="0"/>
              </a:spcBef>
              <a:spcAft>
                <a:spcPts val="1600"/>
              </a:spcAft>
              <a:defRPr sz="1400" b="1" i="0">
                <a:solidFill>
                  <a:srgbClr val="FF4444"/>
                </a:solidFill>
                <a:latin typeface="Calibri"/>
              </a:defRPr>
            </a:pPr>
            <a:r>
              <a:t>  http://x7k2-billing.sketchy-site.ru/steal</a:t>
            </a:r>
          </a:p>
          <a:p>
            <a:pPr algn="l">
              <a:spcBef>
                <a:spcPts val="0"/>
              </a:spcBef>
              <a:spcAft>
                <a:spcPts val="600"/>
              </a:spcAft>
              <a:defRPr sz="1500" b="1" i="0">
                <a:solidFill>
                  <a:srgbClr val="FFD700"/>
                </a:solidFill>
                <a:latin typeface="Calibri"/>
              </a:defRPr>
            </a:pPr>
            <a:r>
              <a:t>⚠ Watch for:</a:t>
            </a:r>
          </a:p>
          <a:p>
            <a:pPr algn="l">
              <a:spcBef>
                <a:spcPts val="0"/>
              </a:spcBef>
              <a:spcAft>
                <a:spcPts val="400"/>
              </a:spcAft>
              <a:defRPr sz="1400" b="0" i="0">
                <a:solidFill>
                  <a:srgbClr val="CCCCCC"/>
                </a:solidFill>
                <a:latin typeface="Calibri"/>
              </a:defRPr>
            </a:pPr>
            <a:r>
              <a:t>• Shortened URLs (bit.ly, tinyurl)</a:t>
            </a:r>
          </a:p>
          <a:p>
            <a:pPr algn="l">
              <a:spcBef>
                <a:spcPts val="0"/>
              </a:spcBef>
              <a:spcAft>
                <a:spcPts val="400"/>
              </a:spcAft>
              <a:defRPr sz="1400" b="0" i="0">
                <a:solidFill>
                  <a:srgbClr val="CCCCCC"/>
                </a:solidFill>
                <a:latin typeface="Calibri"/>
              </a:defRPr>
            </a:pPr>
            <a:r>
              <a:t>• Misspelled domains</a:t>
            </a:r>
          </a:p>
          <a:p>
            <a:pPr algn="l">
              <a:spcBef>
                <a:spcPts val="0"/>
              </a:spcBef>
              <a:spcAft>
                <a:spcPts val="400"/>
              </a:spcAft>
              <a:defRPr sz="1400" b="0" i="0">
                <a:solidFill>
                  <a:srgbClr val="CCCCCC"/>
                </a:solidFill>
                <a:latin typeface="Calibri"/>
              </a:defRPr>
            </a:pPr>
            <a:r>
              <a:t>• HTTP instead of HTTPS</a:t>
            </a:r>
          </a:p>
          <a:p>
            <a:pPr algn="l">
              <a:spcBef>
                <a:spcPts val="0"/>
              </a:spcBef>
              <a:spcAft>
                <a:spcPts val="600"/>
              </a:spcAft>
              <a:defRPr sz="1400" b="0" i="0">
                <a:solidFill>
                  <a:srgbClr val="CCCCCC"/>
                </a:solidFill>
                <a:latin typeface="Calibri"/>
              </a:defRPr>
            </a:pPr>
            <a:r>
              <a:t>• Random subdomains</a:t>
            </a:r>
          </a:p>
        </p:txBody>
      </p:sp>
      <p:sp>
        <p:nvSpPr>
          <p:cNvPr id="6" name="Rounded Rectangle 5"/>
          <p:cNvSpPr/>
          <p:nvPr/>
        </p:nvSpPr>
        <p:spPr>
          <a:xfrm>
            <a:off x="6336792" y="1188720"/>
            <a:ext cx="5120640" cy="47548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400"/>
              </a:spcAft>
              <a:defRPr sz="2000" b="1" i="0">
                <a:solidFill>
                  <a:srgbClr val="FF4444"/>
                </a:solidFill>
                <a:latin typeface="Calibri"/>
              </a:defRPr>
            </a:pPr>
            <a:r>
              <a:t>📎  NEVER OPEN UNEXPECTED FILES</a:t>
            </a:r>
          </a:p>
          <a:p>
            <a:pPr algn="l">
              <a:spcBef>
                <a:spcPts val="0"/>
              </a:spcBef>
              <a:spcAft>
                <a:spcPts val="1200"/>
              </a:spcAft>
              <a:defRPr sz="1500" b="0" i="0">
                <a:solidFill>
                  <a:srgbClr val="CCCCCC"/>
                </a:solidFill>
                <a:latin typeface="Calibri"/>
              </a:defRPr>
            </a:pPr>
            <a:r>
              <a:t>Common malicious attachment types:</a:t>
            </a:r>
          </a:p>
          <a:p>
            <a:pPr algn="l">
              <a:spcBef>
                <a:spcPts val="0"/>
              </a:spcBef>
              <a:spcAft>
                <a:spcPts val="200"/>
              </a:spcAft>
              <a:defRPr sz="1500" b="1" i="0">
                <a:solidFill>
                  <a:srgbClr val="FF4444"/>
                </a:solidFill>
                <a:latin typeface="Calibri"/>
              </a:defRPr>
            </a:pPr>
            <a:r>
              <a:t>❌  Invoice_2024.exe</a:t>
            </a:r>
          </a:p>
          <a:p>
            <a:pPr algn="l">
              <a:spcBef>
                <a:spcPts val="0"/>
              </a:spcBef>
              <a:spcAft>
                <a:spcPts val="1000"/>
              </a:spcAft>
              <a:defRPr sz="1300" b="0" i="0">
                <a:solidFill>
                  <a:srgbClr val="888899"/>
                </a:solidFill>
                <a:latin typeface="Calibri"/>
              </a:defRPr>
            </a:pPr>
            <a:r>
              <a:t>     Executable — runs malware directly</a:t>
            </a:r>
          </a:p>
          <a:p>
            <a:pPr algn="l">
              <a:spcBef>
                <a:spcPts val="0"/>
              </a:spcBef>
              <a:spcAft>
                <a:spcPts val="200"/>
              </a:spcAft>
              <a:defRPr sz="1500" b="1" i="0">
                <a:solidFill>
                  <a:srgbClr val="FF4444"/>
                </a:solidFill>
                <a:latin typeface="Calibri"/>
              </a:defRPr>
            </a:pPr>
            <a:r>
              <a:t>❌  Report.pdf.scr</a:t>
            </a:r>
          </a:p>
          <a:p>
            <a:pPr algn="l">
              <a:spcBef>
                <a:spcPts val="0"/>
              </a:spcBef>
              <a:spcAft>
                <a:spcPts val="1000"/>
              </a:spcAft>
              <a:defRPr sz="1300" b="0" i="0">
                <a:solidFill>
                  <a:srgbClr val="888899"/>
                </a:solidFill>
                <a:latin typeface="Calibri"/>
              </a:defRPr>
            </a:pPr>
            <a:r>
              <a:t>     Double extension — hides true type</a:t>
            </a:r>
          </a:p>
          <a:p>
            <a:pPr algn="l">
              <a:spcBef>
                <a:spcPts val="0"/>
              </a:spcBef>
              <a:spcAft>
                <a:spcPts val="200"/>
              </a:spcAft>
              <a:defRPr sz="1500" b="1" i="0">
                <a:solidFill>
                  <a:srgbClr val="FF4444"/>
                </a:solidFill>
                <a:latin typeface="Calibri"/>
              </a:defRPr>
            </a:pPr>
            <a:r>
              <a:t>❌  Tracking_Info.zip</a:t>
            </a:r>
          </a:p>
          <a:p>
            <a:pPr algn="l">
              <a:spcBef>
                <a:spcPts val="0"/>
              </a:spcBef>
              <a:spcAft>
                <a:spcPts val="1000"/>
              </a:spcAft>
              <a:defRPr sz="1300" b="0" i="0">
                <a:solidFill>
                  <a:srgbClr val="888899"/>
                </a:solidFill>
                <a:latin typeface="Calibri"/>
              </a:defRPr>
            </a:pPr>
            <a:r>
              <a:t>     Archive — may contain malware</a:t>
            </a:r>
          </a:p>
          <a:p>
            <a:pPr algn="l">
              <a:spcBef>
                <a:spcPts val="0"/>
              </a:spcBef>
              <a:spcAft>
                <a:spcPts val="200"/>
              </a:spcAft>
              <a:defRPr sz="1500" b="1" i="0">
                <a:solidFill>
                  <a:srgbClr val="FF4444"/>
                </a:solidFill>
                <a:latin typeface="Calibri"/>
              </a:defRPr>
            </a:pPr>
            <a:r>
              <a:t>❌  Document.docm</a:t>
            </a:r>
          </a:p>
          <a:p>
            <a:pPr algn="l">
              <a:spcBef>
                <a:spcPts val="0"/>
              </a:spcBef>
              <a:spcAft>
                <a:spcPts val="1000"/>
              </a:spcAft>
              <a:defRPr sz="1300" b="0" i="0">
                <a:solidFill>
                  <a:srgbClr val="888899"/>
                </a:solidFill>
                <a:latin typeface="Calibri"/>
              </a:defRPr>
            </a:pPr>
            <a:r>
              <a:t>     Macro-enabled — can run code</a:t>
            </a:r>
          </a:p>
          <a:p>
            <a:pPr algn="l">
              <a:spcBef>
                <a:spcPts val="0"/>
              </a:spcBef>
              <a:spcAft>
                <a:spcPts val="200"/>
              </a:spcAft>
              <a:defRPr sz="1500" b="1" i="0">
                <a:solidFill>
                  <a:srgbClr val="FF4444"/>
                </a:solidFill>
                <a:latin typeface="Calibri"/>
              </a:defRPr>
            </a:pPr>
            <a:r>
              <a:t>❌  Payment.html</a:t>
            </a:r>
          </a:p>
          <a:p>
            <a:pPr algn="l">
              <a:spcBef>
                <a:spcPts val="0"/>
              </a:spcBef>
              <a:spcAft>
                <a:spcPts val="1000"/>
              </a:spcAft>
              <a:defRPr sz="1300" b="0" i="0">
                <a:solidFill>
                  <a:srgbClr val="888899"/>
                </a:solidFill>
                <a:latin typeface="Calibri"/>
              </a:defRPr>
            </a:pPr>
            <a:r>
              <a:t>     Can redirect to phishing page</a:t>
            </a:r>
          </a:p>
        </p:txBody>
      </p:sp>
      <p:sp>
        <p:nvSpPr>
          <p:cNvPr id="7" name="Rounded Rectangle 6"/>
          <p:cNvSpPr/>
          <p:nvPr/>
        </p:nvSpPr>
        <p:spPr>
          <a:xfrm>
            <a:off x="1371600" y="6217920"/>
            <a:ext cx="9445752" cy="548640"/>
          </a:xfrm>
          <a:prstGeom prst="roundRect">
            <a:avLst/>
          </a:prstGeom>
          <a:solidFill>
            <a:srgbClr val="16213E"/>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1500" b="0" i="0">
                <a:solidFill>
                  <a:srgbClr val="44FF88"/>
                </a:solidFill>
                <a:latin typeface="Calibri"/>
              </a:defRPr>
            </a:pPr>
            <a:r>
              <a:t>✅  Rule of thumb: If you didn't expect it, don't click it. Verify with the sender through a separate channel.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164592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RED FLAG #4</a:t>
            </a:r>
          </a:p>
        </p:txBody>
      </p:sp>
      <p:sp>
        <p:nvSpPr>
          <p:cNvPr id="4" name="TextBox 3"/>
          <p:cNvSpPr txBox="1"/>
          <p:nvPr/>
        </p:nvSpPr>
        <p:spPr>
          <a:xfrm>
            <a:off x="2468880" y="228600"/>
            <a:ext cx="9144000" cy="640080"/>
          </a:xfrm>
          <a:prstGeom prst="rect">
            <a:avLst/>
          </a:prstGeom>
          <a:noFill/>
        </p:spPr>
        <p:txBody>
          <a:bodyPr wrap="square">
            <a:spAutoFit/>
          </a:bodyPr>
          <a:lstStyle/>
          <a:p>
            <a:pPr algn="l">
              <a:spcBef>
                <a:spcPts val="0"/>
              </a:spcBef>
              <a:spcAft>
                <a:spcPts val="600"/>
              </a:spcAft>
              <a:defRPr sz="3400" b="1" i="0">
                <a:solidFill>
                  <a:srgbClr val="FFFFFF"/>
                </a:solidFill>
                <a:latin typeface="Calibri"/>
              </a:defRPr>
            </a:pPr>
            <a:r>
              <a:t>👤  Generic Greetings</a:t>
            </a:r>
          </a:p>
        </p:txBody>
      </p:sp>
      <p:sp>
        <p:nvSpPr>
          <p:cNvPr id="5" name="Rounded Rectangle 4"/>
          <p:cNvSpPr/>
          <p:nvPr/>
        </p:nvSpPr>
        <p:spPr>
          <a:xfrm>
            <a:off x="731520" y="1188720"/>
            <a:ext cx="10725912" cy="128016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0"/>
              </a:spcAft>
              <a:defRPr sz="2400" b="1" i="0">
                <a:solidFill>
                  <a:srgbClr val="FFD700"/>
                </a:solidFill>
                <a:latin typeface="Calibri"/>
              </a:defRPr>
            </a:pPr>
            <a:r>
              <a:t>If a company has your account, they know your name.</a:t>
            </a:r>
          </a:p>
          <a:p>
            <a:pPr algn="ctr">
              <a:spcBef>
                <a:spcPts val="0"/>
              </a:spcBef>
              <a:spcAft>
                <a:spcPts val="600"/>
              </a:spcAft>
              <a:defRPr sz="1700" b="0" i="0">
                <a:solidFill>
                  <a:srgbClr val="CCCCCC"/>
                </a:solidFill>
                <a:latin typeface="Calibri"/>
              </a:defRPr>
            </a:pPr>
            <a:r>
              <a:t>Mass phishing campaigns can't personalize every email. Generic greetings are a strong sign of a phish.</a:t>
            </a:r>
          </a:p>
        </p:txBody>
      </p:sp>
      <p:sp>
        <p:nvSpPr>
          <p:cNvPr id="6" name="Rounded Rectangle 5"/>
          <p:cNvSpPr/>
          <p:nvPr/>
        </p:nvSpPr>
        <p:spPr>
          <a:xfrm>
            <a:off x="731520" y="2926080"/>
            <a:ext cx="5120640" cy="301752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600"/>
              </a:spcAft>
              <a:defRPr sz="2000" b="1" i="0">
                <a:solidFill>
                  <a:srgbClr val="FF4444"/>
                </a:solidFill>
                <a:latin typeface="Calibri"/>
              </a:defRPr>
            </a:pPr>
            <a:r>
              <a:t>🚫  Suspicious Greetings</a:t>
            </a:r>
          </a:p>
          <a:p>
            <a:pPr algn="l">
              <a:spcBef>
                <a:spcPts val="0"/>
              </a:spcBef>
              <a:spcAft>
                <a:spcPts val="1000"/>
              </a:spcAft>
              <a:defRPr sz="1800" b="0" i="0">
                <a:solidFill>
                  <a:srgbClr val="CCCCCC"/>
                </a:solidFill>
                <a:latin typeface="Calibri"/>
              </a:defRPr>
            </a:pPr>
            <a:r>
              <a:t>❌   "Dear Customer"</a:t>
            </a:r>
          </a:p>
          <a:p>
            <a:pPr algn="l">
              <a:spcBef>
                <a:spcPts val="0"/>
              </a:spcBef>
              <a:spcAft>
                <a:spcPts val="1000"/>
              </a:spcAft>
              <a:defRPr sz="1800" b="0" i="0">
                <a:solidFill>
                  <a:srgbClr val="CCCCCC"/>
                </a:solidFill>
                <a:latin typeface="Calibri"/>
              </a:defRPr>
            </a:pPr>
            <a:r>
              <a:t>❌   "Dear User"</a:t>
            </a:r>
          </a:p>
          <a:p>
            <a:pPr algn="l">
              <a:spcBef>
                <a:spcPts val="0"/>
              </a:spcBef>
              <a:spcAft>
                <a:spcPts val="1000"/>
              </a:spcAft>
              <a:defRPr sz="1800" b="0" i="0">
                <a:solidFill>
                  <a:srgbClr val="CCCCCC"/>
                </a:solidFill>
                <a:latin typeface="Calibri"/>
              </a:defRPr>
            </a:pPr>
            <a:r>
              <a:t>❌   "Dear Valued Member"</a:t>
            </a:r>
          </a:p>
          <a:p>
            <a:pPr algn="l">
              <a:spcBef>
                <a:spcPts val="0"/>
              </a:spcBef>
              <a:spcAft>
                <a:spcPts val="1000"/>
              </a:spcAft>
              <a:defRPr sz="1800" b="0" i="0">
                <a:solidFill>
                  <a:srgbClr val="CCCCCC"/>
                </a:solidFill>
                <a:latin typeface="Calibri"/>
              </a:defRPr>
            </a:pPr>
            <a:r>
              <a:t>❌   "Dear Account Holder"</a:t>
            </a:r>
          </a:p>
          <a:p>
            <a:pPr algn="l">
              <a:spcBef>
                <a:spcPts val="0"/>
              </a:spcBef>
              <a:spcAft>
                <a:spcPts val="1000"/>
              </a:spcAft>
              <a:defRPr sz="1800" b="0" i="0">
                <a:solidFill>
                  <a:srgbClr val="CCCCCC"/>
                </a:solidFill>
                <a:latin typeface="Calibri"/>
              </a:defRPr>
            </a:pPr>
            <a:r>
              <a:t>❌   "Hello Sir/Madam"</a:t>
            </a:r>
          </a:p>
        </p:txBody>
      </p:sp>
      <p:sp>
        <p:nvSpPr>
          <p:cNvPr id="7" name="Rounded Rectangle 6"/>
          <p:cNvSpPr/>
          <p:nvPr/>
        </p:nvSpPr>
        <p:spPr>
          <a:xfrm>
            <a:off x="6336792" y="2926080"/>
            <a:ext cx="5120640" cy="3017520"/>
          </a:xfrm>
          <a:prstGeom prst="roundRect">
            <a:avLst/>
          </a:prstGeom>
          <a:solidFill>
            <a:srgbClr val="25253A"/>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600"/>
              </a:spcAft>
              <a:defRPr sz="2000" b="1" i="0">
                <a:solidFill>
                  <a:srgbClr val="44FF88"/>
                </a:solidFill>
                <a:latin typeface="Calibri"/>
              </a:defRPr>
            </a:pPr>
            <a:r>
              <a:t>✅  Legitimate Greetings</a:t>
            </a:r>
          </a:p>
          <a:p>
            <a:pPr algn="l">
              <a:spcBef>
                <a:spcPts val="0"/>
              </a:spcBef>
              <a:spcAft>
                <a:spcPts val="1000"/>
              </a:spcAft>
              <a:defRPr sz="1800" b="0" i="0">
                <a:solidFill>
                  <a:srgbClr val="CCCCCC"/>
                </a:solidFill>
                <a:latin typeface="Calibri"/>
              </a:defRPr>
            </a:pPr>
            <a:r>
              <a:t>✅   "Hi John,"</a:t>
            </a:r>
          </a:p>
          <a:p>
            <a:pPr algn="l">
              <a:spcBef>
                <a:spcPts val="0"/>
              </a:spcBef>
              <a:spcAft>
                <a:spcPts val="1000"/>
              </a:spcAft>
              <a:defRPr sz="1800" b="0" i="0">
                <a:solidFill>
                  <a:srgbClr val="CCCCCC"/>
                </a:solidFill>
                <a:latin typeface="Calibri"/>
              </a:defRPr>
            </a:pPr>
            <a:r>
              <a:t>✅   "Dear John Smith,"</a:t>
            </a:r>
          </a:p>
          <a:p>
            <a:pPr algn="l">
              <a:spcBef>
                <a:spcPts val="0"/>
              </a:spcBef>
              <a:spcAft>
                <a:spcPts val="1000"/>
              </a:spcAft>
              <a:defRPr sz="1800" b="0" i="0">
                <a:solidFill>
                  <a:srgbClr val="CCCCCC"/>
                </a:solidFill>
                <a:latin typeface="Calibri"/>
              </a:defRPr>
            </a:pPr>
            <a:r>
              <a:t>✅   "Hello John,"</a:t>
            </a:r>
          </a:p>
          <a:p>
            <a:pPr algn="l">
              <a:spcBef>
                <a:spcPts val="0"/>
              </a:spcBef>
              <a:spcAft>
                <a:spcPts val="1000"/>
              </a:spcAft>
              <a:defRPr sz="1800" b="0" i="0">
                <a:solidFill>
                  <a:srgbClr val="CCCCCC"/>
                </a:solidFill>
                <a:latin typeface="Calibri"/>
              </a:defRPr>
            </a:pPr>
            <a:r>
              <a:t>✅   Uses your account username</a:t>
            </a:r>
          </a:p>
          <a:p>
            <a:pPr algn="l">
              <a:spcBef>
                <a:spcPts val="0"/>
              </a:spcBef>
              <a:spcAft>
                <a:spcPts val="1000"/>
              </a:spcAft>
              <a:defRPr sz="1800" b="0" i="0">
                <a:solidFill>
                  <a:srgbClr val="CCCCCC"/>
                </a:solidFill>
                <a:latin typeface="Calibri"/>
              </a:defRPr>
            </a:pPr>
            <a:r>
              <a:t>✅   References your account number</a:t>
            </a:r>
          </a:p>
        </p:txBody>
      </p:sp>
      <p:sp>
        <p:nvSpPr>
          <p:cNvPr id="8" name="TextBox 7"/>
          <p:cNvSpPr txBox="1"/>
          <p:nvPr/>
        </p:nvSpPr>
        <p:spPr>
          <a:xfrm>
            <a:off x="914400" y="6217920"/>
            <a:ext cx="10360152" cy="457200"/>
          </a:xfrm>
          <a:prstGeom prst="rect">
            <a:avLst/>
          </a:prstGeom>
          <a:noFill/>
        </p:spPr>
        <p:txBody>
          <a:bodyPr wrap="square">
            <a:spAutoFit/>
          </a:bodyPr>
          <a:lstStyle/>
          <a:p>
            <a:pPr algn="ctr">
              <a:spcBef>
                <a:spcPts val="0"/>
              </a:spcBef>
              <a:spcAft>
                <a:spcPts val="600"/>
              </a:spcAft>
              <a:defRPr sz="1400" b="0" i="1">
                <a:solidFill>
                  <a:srgbClr val="888899"/>
                </a:solidFill>
                <a:latin typeface="Calibri"/>
              </a:defRPr>
            </a:pPr>
            <a:r>
              <a:t>⚠️  Note: Spear phishing may use your real name. Generic greetings are a red flag, but a personal greeting doesn't guarantee safety.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97280"/>
            <a:ext cx="12188952" cy="1097280"/>
          </a:xfrm>
          <a:prstGeom prst="rect">
            <a:avLst/>
          </a:prstGeom>
          <a:noFill/>
        </p:spPr>
        <p:txBody>
          <a:bodyPr wrap="square">
            <a:spAutoFit/>
          </a:bodyPr>
          <a:lstStyle/>
          <a:p>
            <a:pPr algn="ctr">
              <a:spcBef>
                <a:spcPts val="0"/>
              </a:spcBef>
              <a:spcAft>
                <a:spcPts val="600"/>
              </a:spcAft>
              <a:defRPr sz="7000" b="0" i="0">
                <a:solidFill>
                  <a:srgbClr val="FFFFFF"/>
                </a:solidFill>
                <a:latin typeface="Calibri"/>
              </a:defRPr>
            </a:pPr>
            <a:r>
              <a:t>🎮</a:t>
            </a:r>
          </a:p>
        </p:txBody>
      </p:sp>
      <p:sp>
        <p:nvSpPr>
          <p:cNvPr id="4" name="TextBox 3"/>
          <p:cNvSpPr txBox="1"/>
          <p:nvPr/>
        </p:nvSpPr>
        <p:spPr>
          <a:xfrm>
            <a:off x="1371600" y="2468880"/>
            <a:ext cx="9445752" cy="914400"/>
          </a:xfrm>
          <a:prstGeom prst="rect">
            <a:avLst/>
          </a:prstGeom>
          <a:noFill/>
        </p:spPr>
        <p:txBody>
          <a:bodyPr wrap="square">
            <a:spAutoFit/>
          </a:bodyPr>
          <a:lstStyle/>
          <a:p>
            <a:pPr algn="ctr">
              <a:spcBef>
                <a:spcPts val="0"/>
              </a:spcBef>
              <a:spcAft>
                <a:spcPts val="400"/>
              </a:spcAft>
              <a:defRPr sz="2800" b="0" i="0">
                <a:solidFill>
                  <a:srgbClr val="CCCCCC"/>
                </a:solidFill>
                <a:latin typeface="Calibri"/>
              </a:defRPr>
            </a:pPr>
            <a:r>
              <a:t>LET'S PLAY:</a:t>
            </a:r>
          </a:p>
          <a:p>
            <a:pPr algn="ctr">
              <a:spcBef>
                <a:spcPts val="0"/>
              </a:spcBef>
              <a:spcAft>
                <a:spcPts val="600"/>
              </a:spcAft>
              <a:defRPr sz="4600" b="1" i="0">
                <a:solidFill>
                  <a:srgbClr val="00D4FF"/>
                </a:solidFill>
                <a:latin typeface="Calibri"/>
              </a:defRPr>
            </a:pPr>
            <a:r>
              <a:t>"SPOT THE PHISH"</a:t>
            </a:r>
          </a:p>
        </p:txBody>
      </p:sp>
      <p:sp>
        <p:nvSpPr>
          <p:cNvPr id="5" name="Rounded Rectangle 4"/>
          <p:cNvSpPr/>
          <p:nvPr/>
        </p:nvSpPr>
        <p:spPr>
          <a:xfrm>
            <a:off x="2286000" y="4023360"/>
            <a:ext cx="7616952" cy="146304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800"/>
              </a:spcAft>
              <a:defRPr sz="2000" b="0" i="0">
                <a:solidFill>
                  <a:srgbClr val="FFFFFF"/>
                </a:solidFill>
                <a:latin typeface="Calibri"/>
              </a:defRPr>
            </a:pPr>
            <a:r>
              <a:t>I'll show you a message.</a:t>
            </a:r>
          </a:p>
          <a:p>
            <a:pPr algn="ctr">
              <a:spcBef>
                <a:spcPts val="0"/>
              </a:spcBef>
              <a:spcAft>
                <a:spcPts val="800"/>
              </a:spcAft>
              <a:defRPr sz="2200" b="1" i="0">
                <a:solidFill>
                  <a:srgbClr val="FFD700"/>
                </a:solidFill>
                <a:latin typeface="Calibri"/>
              </a:defRPr>
            </a:pPr>
            <a:r>
              <a:t>You tell me: Is it SAFE  ✅  or is it a SCAM  ❌  ?</a:t>
            </a:r>
          </a:p>
          <a:p>
            <a:pPr algn="ctr">
              <a:spcBef>
                <a:spcPts val="0"/>
              </a:spcBef>
              <a:spcAft>
                <a:spcPts val="600"/>
              </a:spcAft>
              <a:defRPr sz="1600" b="0" i="0">
                <a:solidFill>
                  <a:srgbClr val="CCCCCC"/>
                </a:solidFill>
                <a:latin typeface="Calibri"/>
              </a:defRPr>
            </a:pPr>
            <a:r>
              <a:t>Look for the red flags we just discussed!</a:t>
            </a:r>
          </a:p>
        </p:txBody>
      </p:sp>
      <p:sp>
        <p:nvSpPr>
          <p:cNvPr id="6" name="TextBox 5"/>
          <p:cNvSpPr txBox="1"/>
          <p:nvPr/>
        </p:nvSpPr>
        <p:spPr>
          <a:xfrm>
            <a:off x="2743200" y="6035040"/>
            <a:ext cx="6702552" cy="457200"/>
          </a:xfrm>
          <a:prstGeom prst="rect">
            <a:avLst/>
          </a:prstGeom>
          <a:noFill/>
        </p:spPr>
        <p:txBody>
          <a:bodyPr wrap="square">
            <a:spAutoFit/>
          </a:bodyPr>
          <a:lstStyle/>
          <a:p>
            <a:pPr algn="ctr">
              <a:spcBef>
                <a:spcPts val="0"/>
              </a:spcBef>
              <a:spcAft>
                <a:spcPts val="600"/>
              </a:spcAft>
              <a:defRPr sz="1600" b="0" i="0">
                <a:solidFill>
                  <a:srgbClr val="888899"/>
                </a:solidFill>
                <a:latin typeface="Calibri"/>
              </a:defRPr>
            </a:pPr>
            <a:r>
              <a:t>3 Scenarios  •  Interactive  •  Real-World Examples</a:t>
            </a:r>
          </a:p>
        </p:txBody>
      </p:sp>
      <p:sp>
        <p:nvSpPr>
          <p:cNvPr id="7" name="Rectangle 6"/>
          <p:cNvSpPr/>
          <p:nvPr/>
        </p:nvSpPr>
        <p:spPr>
          <a:xfrm>
            <a:off x="0" y="6803136"/>
            <a:ext cx="12188952"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2286000" cy="41148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1A1A2E"/>
                </a:solidFill>
                <a:latin typeface="Calibri"/>
              </a:defRPr>
            </a:pPr>
            <a:r>
              <a:t>SCENARIO 1 OF 3</a:t>
            </a:r>
          </a:p>
        </p:txBody>
      </p:sp>
      <p:sp>
        <p:nvSpPr>
          <p:cNvPr id="4" name="TextBox 3"/>
          <p:cNvSpPr txBox="1"/>
          <p:nvPr/>
        </p:nvSpPr>
        <p:spPr>
          <a:xfrm>
            <a:off x="3108960" y="228600"/>
            <a:ext cx="8229600" cy="640080"/>
          </a:xfrm>
          <a:prstGeom prst="rect">
            <a:avLst/>
          </a:prstGeom>
          <a:noFill/>
        </p:spPr>
        <p:txBody>
          <a:bodyPr wrap="square">
            <a:spAutoFit/>
          </a:bodyPr>
          <a:lstStyle/>
          <a:p>
            <a:pPr algn="l">
              <a:spcBef>
                <a:spcPts val="0"/>
              </a:spcBef>
              <a:spcAft>
                <a:spcPts val="600"/>
              </a:spcAft>
              <a:defRPr sz="3200" b="1" i="0">
                <a:solidFill>
                  <a:srgbClr val="FFFFFF"/>
                </a:solidFill>
                <a:latin typeface="Calibri"/>
              </a:defRPr>
            </a:pPr>
            <a:r>
              <a:t>🏦  The Fake Bank Alert</a:t>
            </a:r>
          </a:p>
        </p:txBody>
      </p:sp>
      <p:sp>
        <p:nvSpPr>
          <p:cNvPr id="5" name="Rounded Rectangle 4"/>
          <p:cNvSpPr/>
          <p:nvPr/>
        </p:nvSpPr>
        <p:spPr>
          <a:xfrm>
            <a:off x="1645920" y="1097280"/>
            <a:ext cx="8897112" cy="4572000"/>
          </a:xfrm>
          <a:prstGeom prst="roundRect">
            <a:avLst/>
          </a:prstGeom>
          <a:solidFill>
            <a:srgbClr val="25253A"/>
          </a:solidFill>
          <a:ln w="19050">
            <a:solidFill>
              <a:srgbClr val="8888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400" b="0" i="0">
                <a:solidFill>
                  <a:srgbClr val="CCCCCC"/>
                </a:solidFill>
                <a:latin typeface="Consolas"/>
              </a:defRPr>
            </a:pPr>
            <a:r>
              <a:t>From:    Chase Bank Security  &lt;alerts@chase-secure-update12.com&gt;</a:t>
            </a:r>
          </a:p>
          <a:p>
            <a:pPr algn="l">
              <a:spcBef>
                <a:spcPts val="0"/>
              </a:spcBef>
              <a:spcAft>
                <a:spcPts val="400"/>
              </a:spcAft>
              <a:defRPr sz="1400" b="0" i="0">
                <a:solidFill>
                  <a:srgbClr val="888899"/>
                </a:solidFill>
                <a:latin typeface="Consolas"/>
              </a:defRPr>
            </a:pPr>
            <a:r>
              <a:t>To:        you@email.com</a:t>
            </a:r>
          </a:p>
          <a:p>
            <a:pPr algn="l">
              <a:spcBef>
                <a:spcPts val="0"/>
              </a:spcBef>
              <a:spcAft>
                <a:spcPts val="200"/>
              </a:spcAft>
              <a:defRPr sz="1400" b="1" i="0">
                <a:solidFill>
                  <a:srgbClr val="FF4444"/>
                </a:solidFill>
                <a:latin typeface="Consolas"/>
              </a:defRPr>
            </a:pPr>
            <a:r>
              <a:t>Subject: URGENT: Fraudulent Activity Detected on Your Account</a:t>
            </a:r>
          </a:p>
          <a:p>
            <a:pPr algn="l">
              <a:spcBef>
                <a:spcPts val="0"/>
              </a:spcBef>
              <a:spcAft>
                <a:spcPts val="1400"/>
              </a:spcAft>
              <a:defRPr sz="1000" b="0" i="0">
                <a:solidFill>
                  <a:srgbClr val="888899"/>
                </a:solidFill>
                <a:latin typeface="Calibri"/>
              </a:defRPr>
            </a:pPr>
            <a:r>
              <a:t>────────────────────────────────────────────────────────────────────────</a:t>
            </a:r>
          </a:p>
          <a:p>
            <a:pPr algn="l">
              <a:spcBef>
                <a:spcPts val="0"/>
              </a:spcBef>
              <a:spcAft>
                <a:spcPts val="1400"/>
              </a:spcAft>
              <a:defRPr sz="1700" b="0" i="0">
                <a:solidFill>
                  <a:srgbClr val="FFFFFF"/>
                </a:solidFill>
                <a:latin typeface="Calibri"/>
              </a:defRPr>
            </a:pPr>
            <a:r>
              <a:t>Dear Customer,</a:t>
            </a:r>
          </a:p>
          <a:p>
            <a:pPr algn="l">
              <a:spcBef>
                <a:spcPts val="0"/>
              </a:spcBef>
              <a:spcAft>
                <a:spcPts val="1000"/>
              </a:spcAft>
              <a:defRPr sz="1600" b="0" i="0">
                <a:solidFill>
                  <a:srgbClr val="CCCCCC"/>
                </a:solidFill>
                <a:latin typeface="Calibri"/>
              </a:defRPr>
            </a:pPr>
            <a:r>
              <a:t>We have detected a login attempt from Russia on your Chase account. For your security, please verify your identity immediately.</a:t>
            </a:r>
          </a:p>
          <a:p>
            <a:pPr algn="l">
              <a:spcBef>
                <a:spcPts val="0"/>
              </a:spcBef>
              <a:spcAft>
                <a:spcPts val="1400"/>
              </a:spcAft>
              <a:defRPr sz="1600" b="0" i="0">
                <a:solidFill>
                  <a:srgbClr val="CCCCCC"/>
                </a:solidFill>
                <a:latin typeface="Calibri"/>
              </a:defRPr>
            </a:pPr>
            <a:r>
              <a:t>Click the link below within 12 hours to verify your identity, or your account will be permanently locked.</a:t>
            </a:r>
          </a:p>
        </p:txBody>
      </p:sp>
      <p:sp>
        <p:nvSpPr>
          <p:cNvPr id="6" name="Rounded Rectangle 5"/>
          <p:cNvSpPr/>
          <p:nvPr/>
        </p:nvSpPr>
        <p:spPr>
          <a:xfrm>
            <a:off x="4114800" y="4526280"/>
            <a:ext cx="3959352" cy="502920"/>
          </a:xfrm>
          <a:prstGeom prst="roundRect">
            <a:avLst/>
          </a:prstGeom>
          <a:solidFill>
            <a:srgbClr val="006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600" b="1" i="0">
                <a:solidFill>
                  <a:srgbClr val="FFFFFF"/>
                </a:solidFill>
                <a:latin typeface="Calibri"/>
              </a:defRPr>
            </a:pPr>
            <a:r>
              <a:t>🔒  Verify Account Now</a:t>
            </a:r>
          </a:p>
        </p:txBody>
      </p:sp>
      <p:sp>
        <p:nvSpPr>
          <p:cNvPr id="7" name="Rounded Rectangle 6"/>
          <p:cNvSpPr/>
          <p:nvPr/>
        </p:nvSpPr>
        <p:spPr>
          <a:xfrm>
            <a:off x="3840480" y="5074920"/>
            <a:ext cx="4572000" cy="41148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300" b="0" i="0">
                <a:solidFill>
                  <a:srgbClr val="FFD700"/>
                </a:solidFill>
                <a:latin typeface="Consolas"/>
              </a:defRPr>
            </a:pPr>
            <a:r>
              <a:t>🔗 http://bit.ly/chase-auth-773</a:t>
            </a:r>
          </a:p>
        </p:txBody>
      </p:sp>
      <p:sp>
        <p:nvSpPr>
          <p:cNvPr id="8" name="Rounded Rectangle 7"/>
          <p:cNvSpPr/>
          <p:nvPr/>
        </p:nvSpPr>
        <p:spPr>
          <a:xfrm>
            <a:off x="1828800" y="5943600"/>
            <a:ext cx="8531352" cy="731520"/>
          </a:xfrm>
          <a:prstGeom prst="roundRect">
            <a:avLst/>
          </a:prstGeom>
          <a:solidFill>
            <a:srgbClr val="1621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2000" b="1" i="0">
                <a:solidFill>
                  <a:srgbClr val="FFD700"/>
                </a:solidFill>
                <a:latin typeface="Calibri"/>
              </a:defRPr>
            </a:pPr>
            <a:r>
              <a:t>🤔  Is this email SAFE ✅ or a SCAM ❌ ?   What gives it away?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182880"/>
            <a:ext cx="228600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SCENARIO 1 — REVEAL</a:t>
            </a:r>
          </a:p>
        </p:txBody>
      </p:sp>
      <p:sp>
        <p:nvSpPr>
          <p:cNvPr id="4" name="TextBox 3"/>
          <p:cNvSpPr txBox="1"/>
          <p:nvPr/>
        </p:nvSpPr>
        <p:spPr>
          <a:xfrm>
            <a:off x="3108960" y="137160"/>
            <a:ext cx="8229600" cy="640080"/>
          </a:xfrm>
          <a:prstGeom prst="rect">
            <a:avLst/>
          </a:prstGeom>
          <a:noFill/>
        </p:spPr>
        <p:txBody>
          <a:bodyPr wrap="square">
            <a:spAutoFit/>
          </a:bodyPr>
          <a:lstStyle/>
          <a:p>
            <a:pPr algn="l">
              <a:spcBef>
                <a:spcPts val="0"/>
              </a:spcBef>
              <a:spcAft>
                <a:spcPts val="600"/>
              </a:spcAft>
              <a:defRPr sz="3400" b="1" i="0">
                <a:solidFill>
                  <a:srgbClr val="FF4444"/>
                </a:solidFill>
                <a:latin typeface="Calibri"/>
              </a:defRPr>
            </a:pPr>
            <a:r>
              <a:t>🚨  IT'S A PHISH!</a:t>
            </a:r>
          </a:p>
        </p:txBody>
      </p:sp>
      <p:sp>
        <p:nvSpPr>
          <p:cNvPr id="5" name="Rounded Rectangle 4"/>
          <p:cNvSpPr/>
          <p:nvPr/>
        </p:nvSpPr>
        <p:spPr>
          <a:xfrm>
            <a:off x="548640" y="914400"/>
            <a:ext cx="6035040" cy="411480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i="0">
                <a:solidFill>
                  <a:srgbClr val="CCCCCC"/>
                </a:solidFill>
                <a:latin typeface="Consolas"/>
              </a:defRPr>
            </a:pPr>
            <a:r>
              <a:t>From: Chase Bank Security</a:t>
            </a:r>
          </a:p>
          <a:p>
            <a:pPr algn="l">
              <a:spcBef>
                <a:spcPts val="0"/>
              </a:spcBef>
              <a:spcAft>
                <a:spcPts val="400"/>
              </a:spcAft>
              <a:defRPr sz="1200" b="1" i="0">
                <a:solidFill>
                  <a:srgbClr val="FF4444"/>
                </a:solidFill>
                <a:latin typeface="Consolas"/>
              </a:defRPr>
            </a:pPr>
            <a:r>
              <a:t>  &lt;alerts@chase-secure-update12.com&gt;</a:t>
            </a:r>
          </a:p>
          <a:p>
            <a:pPr algn="l">
              <a:spcBef>
                <a:spcPts val="0"/>
              </a:spcBef>
              <a:spcAft>
                <a:spcPts val="200"/>
              </a:spcAft>
              <a:defRPr sz="1300" b="0" i="0">
                <a:solidFill>
                  <a:srgbClr val="CCCCCC"/>
                </a:solidFill>
                <a:latin typeface="Consolas"/>
              </a:defRPr>
            </a:pPr>
            <a:r>
              <a:t>Subject: URGENT: Fraudulent Activity Detected</a:t>
            </a:r>
          </a:p>
          <a:p>
            <a:pPr algn="l">
              <a:spcBef>
                <a:spcPts val="0"/>
              </a:spcBef>
              <a:spcAft>
                <a:spcPts val="800"/>
              </a:spcAft>
              <a:defRPr sz="800" b="0" i="0">
                <a:solidFill>
                  <a:srgbClr val="888899"/>
                </a:solidFill>
                <a:latin typeface="Calibri"/>
              </a:defRPr>
            </a:pPr>
            <a:r>
              <a:t>──────────────────────────────────────────────────</a:t>
            </a:r>
          </a:p>
          <a:p>
            <a:pPr algn="l">
              <a:spcBef>
                <a:spcPts val="0"/>
              </a:spcBef>
              <a:spcAft>
                <a:spcPts val="800"/>
              </a:spcAft>
              <a:defRPr sz="1400" b="0" i="0">
                <a:solidFill>
                  <a:srgbClr val="FFFFFF"/>
                </a:solidFill>
                <a:latin typeface="Calibri"/>
              </a:defRPr>
            </a:pPr>
            <a:r>
              <a:t>Dear Customer,</a:t>
            </a:r>
          </a:p>
          <a:p>
            <a:pPr algn="l">
              <a:spcBef>
                <a:spcPts val="0"/>
              </a:spcBef>
              <a:spcAft>
                <a:spcPts val="600"/>
              </a:spcAft>
              <a:defRPr sz="1300" b="0" i="0">
                <a:solidFill>
                  <a:srgbClr val="CCCCCC"/>
                </a:solidFill>
                <a:latin typeface="Calibri"/>
              </a:defRPr>
            </a:pPr>
            <a:r>
              <a:t>We have detected a login attempt from Russia...</a:t>
            </a:r>
          </a:p>
          <a:p>
            <a:pPr algn="l">
              <a:spcBef>
                <a:spcPts val="0"/>
              </a:spcBef>
              <a:spcAft>
                <a:spcPts val="1000"/>
              </a:spcAft>
              <a:defRPr sz="1300" b="0" i="0">
                <a:solidFill>
                  <a:srgbClr val="CCCCCC"/>
                </a:solidFill>
                <a:latin typeface="Calibri"/>
              </a:defRPr>
            </a:pPr>
            <a:r>
              <a:t>Click within 12 hours or your account will be permanently locked.</a:t>
            </a:r>
          </a:p>
          <a:p>
            <a:pPr algn="l">
              <a:spcBef>
                <a:spcPts val="0"/>
              </a:spcBef>
              <a:spcAft>
                <a:spcPts val="400"/>
              </a:spcAft>
              <a:defRPr sz="1400" b="1" i="0">
                <a:solidFill>
                  <a:srgbClr val="00D4FF"/>
                </a:solidFill>
                <a:latin typeface="Calibri"/>
              </a:defRPr>
            </a:pPr>
            <a:r>
              <a:t>   [ 🔒 Verify Account Now ]</a:t>
            </a:r>
          </a:p>
          <a:p>
            <a:pPr algn="l">
              <a:spcBef>
                <a:spcPts val="0"/>
              </a:spcBef>
              <a:spcAft>
                <a:spcPts val="600"/>
              </a:spcAft>
              <a:defRPr sz="1100" b="0" i="0">
                <a:solidFill>
                  <a:srgbClr val="FFD700"/>
                </a:solidFill>
                <a:latin typeface="Consolas"/>
              </a:defRPr>
            </a:pPr>
            <a:r>
              <a:t>   → http://bit.ly/chase-auth-773</a:t>
            </a:r>
          </a:p>
        </p:txBody>
      </p:sp>
      <p:sp>
        <p:nvSpPr>
          <p:cNvPr id="6" name="Rounded Rectangle 5"/>
          <p:cNvSpPr/>
          <p:nvPr/>
        </p:nvSpPr>
        <p:spPr>
          <a:xfrm>
            <a:off x="6949440" y="914400"/>
            <a:ext cx="4846320" cy="10972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600" b="1" i="0">
                <a:solidFill>
                  <a:srgbClr val="FF4444"/>
                </a:solidFill>
                <a:latin typeface="Calibri"/>
              </a:defRPr>
            </a:pPr>
            <a:r>
              <a:t>🔴  Fake Domain</a:t>
            </a:r>
          </a:p>
          <a:p>
            <a:pPr algn="l">
              <a:spcBef>
                <a:spcPts val="0"/>
              </a:spcBef>
              <a:spcAft>
                <a:spcPts val="200"/>
              </a:spcAft>
              <a:defRPr sz="1300" b="0" i="0">
                <a:solidFill>
                  <a:srgbClr val="CCCCCC"/>
                </a:solidFill>
                <a:latin typeface="Calibri"/>
              </a:defRPr>
            </a:pPr>
            <a:r>
              <a:t>Not chase.com → chase-secure-update12.com</a:t>
            </a:r>
            <a:br/>
            <a:r>
              <a:t>A real bank uses its official domain.</a:t>
            </a:r>
          </a:p>
        </p:txBody>
      </p:sp>
      <p:sp>
        <p:nvSpPr>
          <p:cNvPr id="7" name="Rounded Rectangle 6"/>
          <p:cNvSpPr/>
          <p:nvPr/>
        </p:nvSpPr>
        <p:spPr>
          <a:xfrm>
            <a:off x="6949440" y="2377440"/>
            <a:ext cx="4846320" cy="10972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600" b="1" i="0">
                <a:solidFill>
                  <a:srgbClr val="FF4444"/>
                </a:solidFill>
                <a:latin typeface="Calibri"/>
              </a:defRPr>
            </a:pPr>
            <a:r>
              <a:t>🔴  Generic Greeting</a:t>
            </a:r>
          </a:p>
          <a:p>
            <a:pPr algn="l">
              <a:spcBef>
                <a:spcPts val="0"/>
              </a:spcBef>
              <a:spcAft>
                <a:spcPts val="200"/>
              </a:spcAft>
              <a:defRPr sz="1300" b="0" i="0">
                <a:solidFill>
                  <a:srgbClr val="CCCCCC"/>
                </a:solidFill>
                <a:latin typeface="Calibri"/>
              </a:defRPr>
            </a:pPr>
            <a:r>
              <a:t>"Dear Customer" — Chase would use</a:t>
            </a:r>
            <a:br/>
            <a:r>
              <a:t>your actual name if you have an account.</a:t>
            </a:r>
          </a:p>
        </p:txBody>
      </p:sp>
      <p:sp>
        <p:nvSpPr>
          <p:cNvPr id="8" name="Rounded Rectangle 7"/>
          <p:cNvSpPr/>
          <p:nvPr/>
        </p:nvSpPr>
        <p:spPr>
          <a:xfrm>
            <a:off x="6949440" y="3657600"/>
            <a:ext cx="4846320" cy="10972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600" b="1" i="0">
                <a:solidFill>
                  <a:srgbClr val="FF4444"/>
                </a:solidFill>
                <a:latin typeface="Calibri"/>
              </a:defRPr>
            </a:pPr>
            <a:r>
              <a:t>🔴  Urgency &amp; Threats</a:t>
            </a:r>
          </a:p>
          <a:p>
            <a:pPr algn="l">
              <a:spcBef>
                <a:spcPts val="0"/>
              </a:spcBef>
              <a:spcAft>
                <a:spcPts val="200"/>
              </a:spcAft>
              <a:defRPr sz="1300" b="0" i="0">
                <a:solidFill>
                  <a:srgbClr val="CCCCCC"/>
                </a:solidFill>
                <a:latin typeface="Calibri"/>
              </a:defRPr>
            </a:pPr>
            <a:r>
              <a:t>"12 hours or permanently locked" —</a:t>
            </a:r>
            <a:br/>
            <a:r>
              <a:t>Designed to panic you into clicking.</a:t>
            </a:r>
          </a:p>
        </p:txBody>
      </p:sp>
      <p:sp>
        <p:nvSpPr>
          <p:cNvPr id="9" name="Rounded Rectangle 8"/>
          <p:cNvSpPr/>
          <p:nvPr/>
        </p:nvSpPr>
        <p:spPr>
          <a:xfrm>
            <a:off x="6949440" y="4846320"/>
            <a:ext cx="4846320" cy="10972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600" b="1" i="0">
                <a:solidFill>
                  <a:srgbClr val="FF4444"/>
                </a:solidFill>
                <a:latin typeface="Calibri"/>
              </a:defRPr>
            </a:pPr>
            <a:r>
              <a:t>🔴  Suspicious Link</a:t>
            </a:r>
          </a:p>
          <a:p>
            <a:pPr algn="l">
              <a:spcBef>
                <a:spcPts val="0"/>
              </a:spcBef>
              <a:spcAft>
                <a:spcPts val="200"/>
              </a:spcAft>
              <a:defRPr sz="1300" b="0" i="0">
                <a:solidFill>
                  <a:srgbClr val="CCCCCC"/>
                </a:solidFill>
                <a:latin typeface="Calibri"/>
              </a:defRPr>
            </a:pPr>
            <a:r>
              <a:t>Shortened bit.ly URL instead of a secure</a:t>
            </a:r>
            <a:br/>
            <a:r>
              <a:t>chase.com domain. Never trust short URLs.</a:t>
            </a:r>
          </a:p>
        </p:txBody>
      </p:sp>
      <p:sp>
        <p:nvSpPr>
          <p:cNvPr id="10" name="Rounded Rectangle 9"/>
          <p:cNvSpPr/>
          <p:nvPr/>
        </p:nvSpPr>
        <p:spPr>
          <a:xfrm>
            <a:off x="1371600" y="6217920"/>
            <a:ext cx="9445752" cy="548640"/>
          </a:xfrm>
          <a:prstGeom prst="roundRect">
            <a:avLst/>
          </a:prstGeom>
          <a:solidFill>
            <a:srgbClr val="16213E"/>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1500" b="0" i="0">
                <a:solidFill>
                  <a:srgbClr val="44FF88"/>
                </a:solidFill>
                <a:latin typeface="Calibri"/>
              </a:defRPr>
            </a:pPr>
            <a:r>
              <a:t>✅  Always go directly to chase.com or call the number on your card. Never click links in suspicious emails.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2286000" cy="41148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1A1A2E"/>
                </a:solidFill>
                <a:latin typeface="Calibri"/>
              </a:defRPr>
            </a:pPr>
            <a:r>
              <a:t>SCENARIO 2 OF 3</a:t>
            </a:r>
          </a:p>
        </p:txBody>
      </p:sp>
      <p:sp>
        <p:nvSpPr>
          <p:cNvPr id="4" name="TextBox 3"/>
          <p:cNvSpPr txBox="1"/>
          <p:nvPr/>
        </p:nvSpPr>
        <p:spPr>
          <a:xfrm>
            <a:off x="3108960" y="228600"/>
            <a:ext cx="8229600" cy="640080"/>
          </a:xfrm>
          <a:prstGeom prst="rect">
            <a:avLst/>
          </a:prstGeom>
          <a:noFill/>
        </p:spPr>
        <p:txBody>
          <a:bodyPr wrap="square">
            <a:spAutoFit/>
          </a:bodyPr>
          <a:lstStyle/>
          <a:p>
            <a:pPr algn="l">
              <a:spcBef>
                <a:spcPts val="0"/>
              </a:spcBef>
              <a:spcAft>
                <a:spcPts val="600"/>
              </a:spcAft>
              <a:defRPr sz="3200" b="1" i="0">
                <a:solidFill>
                  <a:srgbClr val="FFFFFF"/>
                </a:solidFill>
                <a:latin typeface="Calibri"/>
              </a:defRPr>
            </a:pPr>
            <a:r>
              <a:t>💬  The CEO Fraud (SMS)</a:t>
            </a:r>
          </a:p>
        </p:txBody>
      </p:sp>
      <p:sp>
        <p:nvSpPr>
          <p:cNvPr id="5" name="Rounded Rectangle 4"/>
          <p:cNvSpPr/>
          <p:nvPr/>
        </p:nvSpPr>
        <p:spPr>
          <a:xfrm>
            <a:off x="3474720" y="1097280"/>
            <a:ext cx="5239512" cy="4754880"/>
          </a:xfrm>
          <a:prstGeom prst="roundRect">
            <a:avLst/>
          </a:prstGeom>
          <a:solidFill>
            <a:srgbClr val="101020"/>
          </a:solidFill>
          <a:ln w="19050">
            <a:solidFill>
              <a:srgbClr val="888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0" y="1280160"/>
            <a:ext cx="4507992" cy="457200"/>
          </a:xfrm>
          <a:prstGeom prst="rect">
            <a:avLst/>
          </a:prstGeom>
          <a:noFill/>
        </p:spPr>
        <p:txBody>
          <a:bodyPr wrap="square">
            <a:spAutoFit/>
          </a:bodyPr>
          <a:lstStyle/>
          <a:p>
            <a:pPr algn="ctr">
              <a:spcBef>
                <a:spcPts val="0"/>
              </a:spcBef>
              <a:spcAft>
                <a:spcPts val="600"/>
              </a:spcAft>
              <a:defRPr sz="1600" b="0" i="0">
                <a:solidFill>
                  <a:srgbClr val="888899"/>
                </a:solidFill>
                <a:latin typeface="Consolas"/>
              </a:defRPr>
            </a:pPr>
            <a:r>
              <a:t>📱  +1 (347) 555-0192</a:t>
            </a:r>
          </a:p>
        </p:txBody>
      </p:sp>
      <p:sp>
        <p:nvSpPr>
          <p:cNvPr id="7" name="TextBox 6"/>
          <p:cNvSpPr txBox="1"/>
          <p:nvPr/>
        </p:nvSpPr>
        <p:spPr>
          <a:xfrm>
            <a:off x="3840480" y="1691640"/>
            <a:ext cx="4507992" cy="320040"/>
          </a:xfrm>
          <a:prstGeom prst="rect">
            <a:avLst/>
          </a:prstGeom>
          <a:noFill/>
        </p:spPr>
        <p:txBody>
          <a:bodyPr wrap="square">
            <a:spAutoFit/>
          </a:bodyPr>
          <a:lstStyle/>
          <a:p>
            <a:pPr algn="ctr">
              <a:spcBef>
                <a:spcPts val="0"/>
              </a:spcBef>
              <a:spcAft>
                <a:spcPts val="600"/>
              </a:spcAft>
              <a:defRPr sz="1200" b="0" i="0">
                <a:solidFill>
                  <a:srgbClr val="888899"/>
                </a:solidFill>
                <a:latin typeface="Calibri"/>
              </a:defRPr>
            </a:pPr>
            <a:r>
              <a:t>Unknown Number  •  Today 2:47 PM</a:t>
            </a:r>
          </a:p>
        </p:txBody>
      </p:sp>
      <p:sp>
        <p:nvSpPr>
          <p:cNvPr id="8" name="Rounded Rectangle 7"/>
          <p:cNvSpPr/>
          <p:nvPr/>
        </p:nvSpPr>
        <p:spPr>
          <a:xfrm>
            <a:off x="3657600" y="2286000"/>
            <a:ext cx="4873752" cy="2926080"/>
          </a:xfrm>
          <a:prstGeom prst="roundRect">
            <a:avLst/>
          </a:prstGeom>
          <a:solidFill>
            <a:srgbClr val="303048"/>
          </a:solidFill>
          <a:ln w="19050">
            <a:solidFill>
              <a:srgbClr val="8888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1000"/>
              </a:spcAft>
              <a:defRPr sz="1600" b="0" i="0">
                <a:solidFill>
                  <a:srgbClr val="FFFFFF"/>
                </a:solidFill>
                <a:latin typeface="Calibri"/>
              </a:defRPr>
            </a:pPr>
            <a:r>
              <a:t>Hi, it's David Chen.</a:t>
            </a:r>
          </a:p>
          <a:p>
            <a:pPr algn="l">
              <a:spcBef>
                <a:spcPts val="0"/>
              </a:spcBef>
              <a:spcAft>
                <a:spcPts val="1000"/>
              </a:spcAft>
              <a:defRPr sz="1600" b="0" i="0">
                <a:solidFill>
                  <a:srgbClr val="FFFFFF"/>
                </a:solidFill>
                <a:latin typeface="Calibri"/>
              </a:defRPr>
            </a:pPr>
            <a:r>
              <a:t>I'm in a meeting right now and can't talk, but I need a quick favor.</a:t>
            </a:r>
          </a:p>
          <a:p>
            <a:pPr algn="l">
              <a:spcBef>
                <a:spcPts val="0"/>
              </a:spcBef>
              <a:spcAft>
                <a:spcPts val="1000"/>
              </a:spcAft>
              <a:defRPr sz="1600" b="0" i="0">
                <a:solidFill>
                  <a:srgbClr val="FFFFFF"/>
                </a:solidFill>
                <a:latin typeface="Calibri"/>
              </a:defRPr>
            </a:pPr>
            <a:r>
              <a:t>Can you buy 5 × $100 Apple gift cards for a client presentation? I will reimburse you by the end of the day.</a:t>
            </a:r>
          </a:p>
          <a:p>
            <a:pPr algn="l">
              <a:spcBef>
                <a:spcPts val="0"/>
              </a:spcBef>
              <a:spcAft>
                <a:spcPts val="400"/>
              </a:spcAft>
              <a:defRPr sz="1600" b="0" i="0">
                <a:solidFill>
                  <a:srgbClr val="FFFFFF"/>
                </a:solidFill>
                <a:latin typeface="Calibri"/>
              </a:defRPr>
            </a:pPr>
            <a:r>
              <a:t>Please send me the codes as soon as possible. Thanks!</a:t>
            </a:r>
          </a:p>
        </p:txBody>
      </p:sp>
      <p:sp>
        <p:nvSpPr>
          <p:cNvPr id="9" name="Rounded Rectangle 8"/>
          <p:cNvSpPr/>
          <p:nvPr/>
        </p:nvSpPr>
        <p:spPr>
          <a:xfrm>
            <a:off x="1828800" y="6126480"/>
            <a:ext cx="8531352" cy="640080"/>
          </a:xfrm>
          <a:prstGeom prst="roundRect">
            <a:avLst/>
          </a:prstGeom>
          <a:solidFill>
            <a:srgbClr val="1621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2000" b="1" i="0">
                <a:solidFill>
                  <a:srgbClr val="FFD700"/>
                </a:solidFill>
                <a:latin typeface="Calibri"/>
              </a:defRPr>
            </a:pPr>
            <a:r>
              <a:t>🤔  Your "boss" just texted you. Do you buy the gift cards?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182880"/>
            <a:ext cx="228600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SCENARIO 2 — REVEAL</a:t>
            </a:r>
          </a:p>
        </p:txBody>
      </p:sp>
      <p:sp>
        <p:nvSpPr>
          <p:cNvPr id="4" name="TextBox 3"/>
          <p:cNvSpPr txBox="1"/>
          <p:nvPr/>
        </p:nvSpPr>
        <p:spPr>
          <a:xfrm>
            <a:off x="3108960" y="137160"/>
            <a:ext cx="8229600" cy="640080"/>
          </a:xfrm>
          <a:prstGeom prst="rect">
            <a:avLst/>
          </a:prstGeom>
          <a:noFill/>
        </p:spPr>
        <p:txBody>
          <a:bodyPr wrap="square">
            <a:spAutoFit/>
          </a:bodyPr>
          <a:lstStyle/>
          <a:p>
            <a:pPr algn="l">
              <a:spcBef>
                <a:spcPts val="0"/>
              </a:spcBef>
              <a:spcAft>
                <a:spcPts val="600"/>
              </a:spcAft>
              <a:defRPr sz="3000" b="1" i="0">
                <a:solidFill>
                  <a:srgbClr val="FF4444"/>
                </a:solidFill>
                <a:latin typeface="Calibri"/>
              </a:defRPr>
            </a:pPr>
            <a:r>
              <a:t>🚨  IT'S A SCAM!   Never buy gift cards for "your boss"</a:t>
            </a:r>
          </a:p>
        </p:txBody>
      </p:sp>
      <p:sp>
        <p:nvSpPr>
          <p:cNvPr id="5" name="Rounded Rectangle 4"/>
          <p:cNvSpPr/>
          <p:nvPr/>
        </p:nvSpPr>
        <p:spPr>
          <a:xfrm>
            <a:off x="548640" y="1005840"/>
            <a:ext cx="4572000" cy="3840480"/>
          </a:xfrm>
          <a:prstGeom prst="roundRect">
            <a:avLst/>
          </a:prstGeom>
          <a:solidFill>
            <a:srgbClr val="101020"/>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800"/>
              </a:spcAft>
              <a:defRPr sz="1300" b="0" i="0">
                <a:solidFill>
                  <a:srgbClr val="888899"/>
                </a:solidFill>
                <a:latin typeface="Consolas"/>
              </a:defRPr>
            </a:pPr>
            <a:r>
              <a:t>📱  +1 (347) 555-0192  (Unknown)</a:t>
            </a:r>
          </a:p>
          <a:p>
            <a:pPr algn="l">
              <a:spcBef>
                <a:spcPts val="0"/>
              </a:spcBef>
              <a:spcAft>
                <a:spcPts val="600"/>
              </a:spcAft>
              <a:defRPr sz="1400" b="0" i="0">
                <a:solidFill>
                  <a:srgbClr val="CCCCCC"/>
                </a:solidFill>
                <a:latin typeface="Calibri"/>
              </a:defRPr>
            </a:pPr>
            <a:r>
              <a:t>"Hi, it's David Chen. I'm in a meeting and can't talk..."</a:t>
            </a:r>
          </a:p>
          <a:p>
            <a:pPr algn="l">
              <a:spcBef>
                <a:spcPts val="0"/>
              </a:spcBef>
              <a:spcAft>
                <a:spcPts val="600"/>
              </a:spcAft>
              <a:defRPr sz="1400" b="0" i="0">
                <a:solidFill>
                  <a:srgbClr val="CCCCCC"/>
                </a:solidFill>
                <a:latin typeface="Calibri"/>
              </a:defRPr>
            </a:pPr>
            <a:r>
              <a:t>"...buy 5 × $100 Apple gift cards..."</a:t>
            </a:r>
          </a:p>
          <a:p>
            <a:pPr algn="l">
              <a:spcBef>
                <a:spcPts val="0"/>
              </a:spcBef>
              <a:spcAft>
                <a:spcPts val="600"/>
              </a:spcAft>
              <a:defRPr sz="1400" b="0" i="0">
                <a:solidFill>
                  <a:srgbClr val="CCCCCC"/>
                </a:solidFill>
                <a:latin typeface="Calibri"/>
              </a:defRPr>
            </a:pPr>
            <a:r>
              <a:t>"...send me the codes as soon as possible."</a:t>
            </a:r>
          </a:p>
        </p:txBody>
      </p:sp>
      <p:sp>
        <p:nvSpPr>
          <p:cNvPr id="6" name="Rounded Rectangle 5"/>
          <p:cNvSpPr/>
          <p:nvPr/>
        </p:nvSpPr>
        <p:spPr>
          <a:xfrm>
            <a:off x="5669280" y="1005840"/>
            <a:ext cx="5943600" cy="128016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700" b="1" i="0">
                <a:solidFill>
                  <a:srgbClr val="FF4444"/>
                </a:solidFill>
                <a:latin typeface="Calibri"/>
              </a:defRPr>
            </a:pPr>
            <a:r>
              <a:t>🔴  Gift Cards = Scam Currency</a:t>
            </a:r>
          </a:p>
          <a:p>
            <a:pPr algn="l">
              <a:spcBef>
                <a:spcPts val="0"/>
              </a:spcBef>
              <a:spcAft>
                <a:spcPts val="200"/>
              </a:spcAft>
              <a:defRPr sz="1400" b="0" i="0">
                <a:solidFill>
                  <a:srgbClr val="CCCCCC"/>
                </a:solidFill>
                <a:latin typeface="Calibri"/>
              </a:defRPr>
            </a:pPr>
            <a:r>
              <a:t>Gift cards are untraceable and unrecoverable.</a:t>
            </a:r>
            <a:br/>
            <a:r>
              <a:t>No legitimate business transaction uses gift cards</a:t>
            </a:r>
            <a:br/>
            <a:r>
              <a:t>as payment. This is the #1 hallmark of a scam.</a:t>
            </a:r>
          </a:p>
        </p:txBody>
      </p:sp>
      <p:sp>
        <p:nvSpPr>
          <p:cNvPr id="7" name="Rounded Rectangle 6"/>
          <p:cNvSpPr/>
          <p:nvPr/>
        </p:nvSpPr>
        <p:spPr>
          <a:xfrm>
            <a:off x="5669280" y="2560320"/>
            <a:ext cx="5943600" cy="128016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700" b="1" i="0">
                <a:solidFill>
                  <a:srgbClr val="FF4444"/>
                </a:solidFill>
                <a:latin typeface="Calibri"/>
              </a:defRPr>
            </a:pPr>
            <a:r>
              <a:t>🔴  "I Can't Talk Right Now"</a:t>
            </a:r>
          </a:p>
          <a:p>
            <a:pPr algn="l">
              <a:spcBef>
                <a:spcPts val="0"/>
              </a:spcBef>
              <a:spcAft>
                <a:spcPts val="200"/>
              </a:spcAft>
              <a:defRPr sz="1400" b="0" i="0">
                <a:solidFill>
                  <a:srgbClr val="CCCCCC"/>
                </a:solidFill>
                <a:latin typeface="Calibri"/>
              </a:defRPr>
            </a:pPr>
            <a:r>
              <a:t>This prevents you from calling your boss to verify.</a:t>
            </a:r>
            <a:br/>
            <a:r>
              <a:t>The scammer creates a reason you can only text,</a:t>
            </a:r>
            <a:br/>
            <a:r>
              <a:t>keeping them in control of the conversation.</a:t>
            </a:r>
          </a:p>
        </p:txBody>
      </p:sp>
      <p:sp>
        <p:nvSpPr>
          <p:cNvPr id="8" name="Rounded Rectangle 7"/>
          <p:cNvSpPr/>
          <p:nvPr/>
        </p:nvSpPr>
        <p:spPr>
          <a:xfrm>
            <a:off x="5669280" y="4114800"/>
            <a:ext cx="5943600" cy="128016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700" b="1" i="0">
                <a:solidFill>
                  <a:srgbClr val="FF4444"/>
                </a:solidFill>
                <a:latin typeface="Calibri"/>
              </a:defRPr>
            </a:pPr>
            <a:r>
              <a:t>🔴  Unknown Phone Number</a:t>
            </a:r>
          </a:p>
          <a:p>
            <a:pPr algn="l">
              <a:spcBef>
                <a:spcPts val="0"/>
              </a:spcBef>
              <a:spcAft>
                <a:spcPts val="200"/>
              </a:spcAft>
              <a:defRPr sz="1400" b="0" i="0">
                <a:solidFill>
                  <a:srgbClr val="CCCCCC"/>
                </a:solidFill>
                <a:latin typeface="Calibri"/>
              </a:defRPr>
            </a:pPr>
            <a:r>
              <a:t>The number isn't your boss's saved contact.</a:t>
            </a:r>
            <a:br/>
            <a:r>
              <a:t>The area code may not even match your company's</a:t>
            </a:r>
            <a:br/>
            <a:r>
              <a:t>location. Always verify through known channels.</a:t>
            </a:r>
          </a:p>
        </p:txBody>
      </p:sp>
      <p:sp>
        <p:nvSpPr>
          <p:cNvPr id="9" name="Rounded Rectangle 8"/>
          <p:cNvSpPr/>
          <p:nvPr/>
        </p:nvSpPr>
        <p:spPr>
          <a:xfrm>
            <a:off x="1371600" y="5852160"/>
            <a:ext cx="9445752" cy="822960"/>
          </a:xfrm>
          <a:prstGeom prst="roundRect">
            <a:avLst/>
          </a:prstGeom>
          <a:solidFill>
            <a:srgbClr val="16213E"/>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1500" b="0" i="0">
                <a:solidFill>
                  <a:srgbClr val="44FF88"/>
                </a:solidFill>
                <a:latin typeface="Calibri"/>
              </a:defRPr>
            </a:pPr>
            <a:r>
              <a:t>✅  ALWAYS verify unusual requests through a separate, known channel. Call your boss on their saved number, walk to their office, or use company chat.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74320"/>
            <a:ext cx="2286000" cy="41148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1A1A2E"/>
                </a:solidFill>
                <a:latin typeface="Calibri"/>
              </a:defRPr>
            </a:pPr>
            <a:r>
              <a:t>SCENARIO 3 OF 3</a:t>
            </a:r>
          </a:p>
        </p:txBody>
      </p:sp>
      <p:sp>
        <p:nvSpPr>
          <p:cNvPr id="4" name="TextBox 3"/>
          <p:cNvSpPr txBox="1"/>
          <p:nvPr/>
        </p:nvSpPr>
        <p:spPr>
          <a:xfrm>
            <a:off x="3108960" y="228600"/>
            <a:ext cx="8229600" cy="640080"/>
          </a:xfrm>
          <a:prstGeom prst="rect">
            <a:avLst/>
          </a:prstGeom>
          <a:noFill/>
        </p:spPr>
        <p:txBody>
          <a:bodyPr wrap="square">
            <a:spAutoFit/>
          </a:bodyPr>
          <a:lstStyle/>
          <a:p>
            <a:pPr algn="l">
              <a:spcBef>
                <a:spcPts val="0"/>
              </a:spcBef>
              <a:spcAft>
                <a:spcPts val="600"/>
              </a:spcAft>
              <a:defRPr sz="3200" b="1" i="0">
                <a:solidFill>
                  <a:srgbClr val="FFFFFF"/>
                </a:solidFill>
                <a:latin typeface="Calibri"/>
              </a:defRPr>
            </a:pPr>
            <a:r>
              <a:t>📦  The Package Delivery</a:t>
            </a:r>
          </a:p>
        </p:txBody>
      </p:sp>
      <p:sp>
        <p:nvSpPr>
          <p:cNvPr id="5" name="Rounded Rectangle 4"/>
          <p:cNvSpPr/>
          <p:nvPr/>
        </p:nvSpPr>
        <p:spPr>
          <a:xfrm>
            <a:off x="1645920" y="1097280"/>
            <a:ext cx="8897112" cy="4572000"/>
          </a:xfrm>
          <a:prstGeom prst="roundRect">
            <a:avLst/>
          </a:prstGeom>
          <a:solidFill>
            <a:srgbClr val="25253A"/>
          </a:solidFill>
          <a:ln w="19050">
            <a:solidFill>
              <a:srgbClr val="8888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400"/>
              </a:spcAft>
              <a:defRPr sz="1400" b="0" i="0">
                <a:solidFill>
                  <a:srgbClr val="CCCCCC"/>
                </a:solidFill>
                <a:latin typeface="Consolas"/>
              </a:defRPr>
            </a:pPr>
            <a:r>
              <a:t>From:    FedEx Notifications  &lt;no-reply@fedex.com&gt;</a:t>
            </a:r>
          </a:p>
          <a:p>
            <a:pPr algn="l">
              <a:spcBef>
                <a:spcPts val="0"/>
              </a:spcBef>
              <a:spcAft>
                <a:spcPts val="400"/>
              </a:spcAft>
              <a:defRPr sz="1400" b="0" i="0">
                <a:solidFill>
                  <a:srgbClr val="888899"/>
                </a:solidFill>
                <a:latin typeface="Consolas"/>
              </a:defRPr>
            </a:pPr>
            <a:r>
              <a:t>To:        john.smith@email.com</a:t>
            </a:r>
          </a:p>
          <a:p>
            <a:pPr algn="l">
              <a:spcBef>
                <a:spcPts val="0"/>
              </a:spcBef>
              <a:spcAft>
                <a:spcPts val="200"/>
              </a:spcAft>
              <a:defRPr sz="1400" b="1" i="0">
                <a:solidFill>
                  <a:srgbClr val="FFFFFF"/>
                </a:solidFill>
                <a:latin typeface="Consolas"/>
              </a:defRPr>
            </a:pPr>
            <a:r>
              <a:t>Subject: Missed Delivery Notification — Action Required</a:t>
            </a:r>
          </a:p>
          <a:p>
            <a:pPr algn="l">
              <a:spcBef>
                <a:spcPts val="0"/>
              </a:spcBef>
              <a:spcAft>
                <a:spcPts val="1200"/>
              </a:spcAft>
              <a:defRPr sz="1000" b="0" i="0">
                <a:solidFill>
                  <a:srgbClr val="888899"/>
                </a:solidFill>
                <a:latin typeface="Calibri"/>
              </a:defRPr>
            </a:pPr>
            <a:r>
              <a:t>────────────────────────────────────────────────────────────────────────</a:t>
            </a:r>
          </a:p>
          <a:p>
            <a:pPr algn="l">
              <a:spcBef>
                <a:spcPts val="0"/>
              </a:spcBef>
              <a:spcAft>
                <a:spcPts val="1400"/>
              </a:spcAft>
              <a:defRPr sz="1800" b="1" i="0">
                <a:solidFill>
                  <a:srgbClr val="FF8C00"/>
                </a:solidFill>
                <a:latin typeface="Calibri"/>
              </a:defRPr>
            </a:pPr>
            <a:r>
              <a:t>FedEx  |  Shipping &amp; Delivery Services</a:t>
            </a:r>
          </a:p>
          <a:p>
            <a:pPr algn="l">
              <a:spcBef>
                <a:spcPts val="0"/>
              </a:spcBef>
              <a:spcAft>
                <a:spcPts val="1000"/>
              </a:spcAft>
              <a:defRPr sz="1700" b="0" i="0">
                <a:solidFill>
                  <a:srgbClr val="FFFFFF"/>
                </a:solidFill>
                <a:latin typeface="Calibri"/>
              </a:defRPr>
            </a:pPr>
            <a:r>
              <a:t>Hi John,</a:t>
            </a:r>
          </a:p>
          <a:p>
            <a:pPr algn="l">
              <a:spcBef>
                <a:spcPts val="0"/>
              </a:spcBef>
              <a:spcAft>
                <a:spcPts val="1400"/>
              </a:spcAft>
              <a:defRPr sz="1600" b="0" i="0">
                <a:solidFill>
                  <a:srgbClr val="CCCCCC"/>
                </a:solidFill>
                <a:latin typeface="Calibri"/>
              </a:defRPr>
            </a:pPr>
            <a:r>
              <a:t>We attempted to deliver your package today but no one was available to sign for it. Please review the attached invoice to confirm your delivery details and reschedule.</a:t>
            </a:r>
          </a:p>
        </p:txBody>
      </p:sp>
      <p:sp>
        <p:nvSpPr>
          <p:cNvPr id="6" name="Rounded Rectangle 5"/>
          <p:cNvSpPr/>
          <p:nvPr/>
        </p:nvSpPr>
        <p:spPr>
          <a:xfrm>
            <a:off x="2286000" y="4480560"/>
            <a:ext cx="4572000" cy="548640"/>
          </a:xfrm>
          <a:prstGeom prst="roundRect">
            <a:avLst/>
          </a:prstGeom>
          <a:solidFill>
            <a:srgbClr val="333344"/>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500" b="1" i="0">
                <a:solidFill>
                  <a:srgbClr val="FF8C00"/>
                </a:solidFill>
                <a:latin typeface="Calibri"/>
              </a:defRPr>
            </a:pPr>
            <a:r>
              <a:t>📎  Delivery_Invoice_Details.exe    (247 KB)</a:t>
            </a:r>
          </a:p>
        </p:txBody>
      </p:sp>
      <p:sp>
        <p:nvSpPr>
          <p:cNvPr id="7" name="TextBox 6"/>
          <p:cNvSpPr txBox="1"/>
          <p:nvPr/>
        </p:nvSpPr>
        <p:spPr>
          <a:xfrm>
            <a:off x="2286000" y="5212080"/>
            <a:ext cx="7616952" cy="457200"/>
          </a:xfrm>
          <a:prstGeom prst="rect">
            <a:avLst/>
          </a:prstGeom>
          <a:noFill/>
        </p:spPr>
        <p:txBody>
          <a:bodyPr wrap="square">
            <a:spAutoFit/>
          </a:bodyPr>
          <a:lstStyle/>
          <a:p>
            <a:pPr algn="ctr">
              <a:spcBef>
                <a:spcPts val="0"/>
              </a:spcBef>
              <a:spcAft>
                <a:spcPts val="600"/>
              </a:spcAft>
              <a:defRPr sz="1500" b="0" i="1">
                <a:solidFill>
                  <a:srgbClr val="FFD700"/>
                </a:solidFill>
                <a:latin typeface="Calibri"/>
              </a:defRPr>
            </a:pPr>
            <a:r>
              <a:t>⚠️  This email uses your real name and a real-looking sender address...</a:t>
            </a:r>
          </a:p>
        </p:txBody>
      </p:sp>
      <p:sp>
        <p:nvSpPr>
          <p:cNvPr id="8" name="Rounded Rectangle 7"/>
          <p:cNvSpPr/>
          <p:nvPr/>
        </p:nvSpPr>
        <p:spPr>
          <a:xfrm>
            <a:off x="1828800" y="5943600"/>
            <a:ext cx="8531352" cy="731520"/>
          </a:xfrm>
          <a:prstGeom prst="roundRect">
            <a:avLst/>
          </a:prstGeom>
          <a:solidFill>
            <a:srgbClr val="1621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defRPr sz="2000" b="1" i="0">
                <a:solidFill>
                  <a:srgbClr val="FFD700"/>
                </a:solidFill>
                <a:latin typeface="Calibri"/>
              </a:defRPr>
            </a:pPr>
            <a:r>
              <a:t>🤔  Looks pretty authentic, right?   Is it SAFE ✅ or a SCAM ❌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182880"/>
            <a:ext cx="2286000" cy="411480"/>
          </a:xfrm>
          <a:prstGeom prst="round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600"/>
              </a:spcAft>
              <a:defRPr sz="1400" b="1" i="0">
                <a:solidFill>
                  <a:srgbClr val="FFFFFF"/>
                </a:solidFill>
                <a:latin typeface="Calibri"/>
              </a:defRPr>
            </a:pPr>
            <a:r>
              <a:t>SCENARIO 3 — REVEAL</a:t>
            </a:r>
          </a:p>
        </p:txBody>
      </p:sp>
      <p:sp>
        <p:nvSpPr>
          <p:cNvPr id="4" name="TextBox 3"/>
          <p:cNvSpPr txBox="1"/>
          <p:nvPr/>
        </p:nvSpPr>
        <p:spPr>
          <a:xfrm>
            <a:off x="3108960" y="137160"/>
            <a:ext cx="8229600" cy="640080"/>
          </a:xfrm>
          <a:prstGeom prst="rect">
            <a:avLst/>
          </a:prstGeom>
          <a:noFill/>
        </p:spPr>
        <p:txBody>
          <a:bodyPr wrap="square">
            <a:spAutoFit/>
          </a:bodyPr>
          <a:lstStyle/>
          <a:p>
            <a:pPr algn="l">
              <a:spcBef>
                <a:spcPts val="0"/>
              </a:spcBef>
              <a:spcAft>
                <a:spcPts val="600"/>
              </a:spcAft>
              <a:defRPr sz="3400" b="1" i="0">
                <a:solidFill>
                  <a:srgbClr val="FF4444"/>
                </a:solidFill>
                <a:latin typeface="Calibri"/>
              </a:defRPr>
            </a:pPr>
            <a:r>
              <a:t>🚨  IT'S A MALWARE TRAP!</a:t>
            </a:r>
          </a:p>
        </p:txBody>
      </p:sp>
      <p:sp>
        <p:nvSpPr>
          <p:cNvPr id="5" name="Rounded Rectangle 4"/>
          <p:cNvSpPr/>
          <p:nvPr/>
        </p:nvSpPr>
        <p:spPr>
          <a:xfrm>
            <a:off x="548640" y="914400"/>
            <a:ext cx="5029200" cy="3657600"/>
          </a:xfrm>
          <a:prstGeom prst="roundRect">
            <a:avLst/>
          </a:prstGeom>
          <a:solidFill>
            <a:srgbClr val="25253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i="0">
                <a:solidFill>
                  <a:srgbClr val="CCCCCC"/>
                </a:solidFill>
                <a:latin typeface="Consolas"/>
              </a:defRPr>
            </a:pPr>
            <a:r>
              <a:t>From: FedEx Notifications</a:t>
            </a:r>
          </a:p>
          <a:p>
            <a:pPr algn="l">
              <a:spcBef>
                <a:spcPts val="0"/>
              </a:spcBef>
              <a:spcAft>
                <a:spcPts val="400"/>
              </a:spcAft>
              <a:defRPr sz="1200" b="0" i="0">
                <a:solidFill>
                  <a:srgbClr val="CCCCCC"/>
                </a:solidFill>
                <a:latin typeface="Consolas"/>
              </a:defRPr>
            </a:pPr>
            <a:r>
              <a:t>  &lt;no-reply@fedex.com&gt;</a:t>
            </a:r>
          </a:p>
          <a:p>
            <a:pPr algn="l">
              <a:spcBef>
                <a:spcPts val="0"/>
              </a:spcBef>
              <a:spcAft>
                <a:spcPts val="800"/>
              </a:spcAft>
              <a:defRPr sz="800" b="0" i="0">
                <a:solidFill>
                  <a:srgbClr val="888899"/>
                </a:solidFill>
                <a:latin typeface="Calibri"/>
              </a:defRPr>
            </a:pPr>
            <a:r>
              <a:t>──────────────────────────────────────────</a:t>
            </a:r>
          </a:p>
          <a:p>
            <a:pPr algn="l">
              <a:spcBef>
                <a:spcPts val="0"/>
              </a:spcBef>
              <a:spcAft>
                <a:spcPts val="1000"/>
              </a:spcAft>
              <a:defRPr sz="1300" b="0" i="0">
                <a:solidFill>
                  <a:srgbClr val="CCCCCC"/>
                </a:solidFill>
                <a:latin typeface="Calibri"/>
              </a:defRPr>
            </a:pPr>
            <a:r>
              <a:t>"Hi John, we tried to deliver a package..."</a:t>
            </a:r>
          </a:p>
          <a:p>
            <a:pPr algn="l">
              <a:spcBef>
                <a:spcPts val="0"/>
              </a:spcBef>
              <a:spcAft>
                <a:spcPts val="600"/>
              </a:spcAft>
              <a:defRPr sz="1600" b="1" i="0">
                <a:solidFill>
                  <a:srgbClr val="FF4444"/>
                </a:solidFill>
                <a:latin typeface="Calibri"/>
              </a:defRPr>
            </a:pPr>
            <a:r>
              <a:t>📎  Delivery_Invoice_Details .exe</a:t>
            </a:r>
          </a:p>
          <a:p>
            <a:pPr algn="l">
              <a:spcBef>
                <a:spcPts val="0"/>
              </a:spcBef>
              <a:spcAft>
                <a:spcPts val="600"/>
              </a:spcAft>
              <a:defRPr sz="1500" b="1" i="0">
                <a:solidFill>
                  <a:srgbClr val="FF4444"/>
                </a:solidFill>
                <a:latin typeface="Calibri"/>
              </a:defRPr>
            </a:pPr>
            <a:r>
              <a:t>          ↑  THIS IS MALWARE!</a:t>
            </a:r>
          </a:p>
        </p:txBody>
      </p:sp>
      <p:sp>
        <p:nvSpPr>
          <p:cNvPr id="6" name="Rounded Rectangle 5"/>
          <p:cNvSpPr/>
          <p:nvPr/>
        </p:nvSpPr>
        <p:spPr>
          <a:xfrm>
            <a:off x="6035040" y="914400"/>
            <a:ext cx="5577840" cy="2011680"/>
          </a:xfrm>
          <a:prstGeom prst="round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800"/>
              </a:spcAft>
              <a:defRPr sz="1800" b="1" i="0">
                <a:solidFill>
                  <a:srgbClr val="FF4444"/>
                </a:solidFill>
                <a:latin typeface="Calibri"/>
              </a:defRPr>
            </a:pPr>
            <a:r>
              <a:t>🔴  The Attachment Is Malware</a:t>
            </a:r>
          </a:p>
          <a:p>
            <a:pPr algn="l">
              <a:spcBef>
                <a:spcPts val="0"/>
              </a:spcBef>
              <a:spcAft>
                <a:spcPts val="600"/>
              </a:spcAft>
              <a:defRPr sz="1500" b="1" i="0">
                <a:solidFill>
                  <a:srgbClr val="FFFFFF"/>
                </a:solidFill>
                <a:latin typeface="Calibri"/>
              </a:defRPr>
            </a:pPr>
            <a:r>
              <a:t>The file ends in .exe — an executable program!</a:t>
            </a:r>
          </a:p>
          <a:p>
            <a:pPr algn="l">
              <a:spcBef>
                <a:spcPts val="0"/>
              </a:spcBef>
              <a:spcAft>
                <a:spcPts val="400"/>
              </a:spcAft>
              <a:defRPr sz="1400" b="0" i="0">
                <a:solidFill>
                  <a:srgbClr val="CCCCCC"/>
                </a:solidFill>
                <a:latin typeface="Calibri"/>
              </a:defRPr>
            </a:pPr>
            <a:r>
              <a:t>FedEx, UPS, and USPS never send:</a:t>
            </a:r>
          </a:p>
          <a:p>
            <a:pPr algn="l">
              <a:spcBef>
                <a:spcPts val="0"/>
              </a:spcBef>
              <a:spcAft>
                <a:spcPts val="600"/>
              </a:spcAft>
              <a:defRPr sz="1400" b="1" i="0">
                <a:solidFill>
                  <a:srgbClr val="FF4444"/>
                </a:solidFill>
                <a:latin typeface="Calibri"/>
              </a:defRPr>
            </a:pPr>
            <a:r>
              <a:t>  ❌  .exe files    ❌  .zip archives    ❌  .scr files</a:t>
            </a:r>
          </a:p>
          <a:p>
            <a:pPr algn="l">
              <a:spcBef>
                <a:spcPts val="0"/>
              </a:spcBef>
              <a:spcAft>
                <a:spcPts val="600"/>
              </a:spcAft>
              <a:defRPr sz="1400" b="0" i="0">
                <a:solidFill>
                  <a:srgbClr val="CCCCCC"/>
                </a:solidFill>
                <a:latin typeface="Calibri"/>
              </a:defRPr>
            </a:pPr>
            <a:r>
              <a:t>They send tracking numbers you look up on their site.</a:t>
            </a:r>
          </a:p>
        </p:txBody>
      </p:sp>
      <p:sp>
        <p:nvSpPr>
          <p:cNvPr id="7" name="Rounded Rectangle 6"/>
          <p:cNvSpPr/>
          <p:nvPr/>
        </p:nvSpPr>
        <p:spPr>
          <a:xfrm>
            <a:off x="6035040" y="3200400"/>
            <a:ext cx="5577840" cy="18288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800"/>
              </a:spcAft>
              <a:defRPr sz="1800" b="1" i="0">
                <a:solidFill>
                  <a:srgbClr val="FF8C00"/>
                </a:solidFill>
                <a:latin typeface="Calibri"/>
              </a:defRPr>
            </a:pPr>
            <a:r>
              <a:t>🟠  Sender Spoofing</a:t>
            </a:r>
          </a:p>
          <a:p>
            <a:pPr algn="l">
              <a:spcBef>
                <a:spcPts val="0"/>
              </a:spcBef>
              <a:spcAft>
                <a:spcPts val="200"/>
              </a:spcAft>
              <a:defRPr sz="1400" b="0" i="0">
                <a:solidFill>
                  <a:srgbClr val="CCCCCC"/>
                </a:solidFill>
                <a:latin typeface="Calibri"/>
              </a:defRPr>
            </a:pPr>
            <a:r>
              <a:t>Even though it says no-reply@fedex.com, attackers can</a:t>
            </a:r>
          </a:p>
          <a:p>
            <a:pPr algn="l">
              <a:spcBef>
                <a:spcPts val="0"/>
              </a:spcBef>
              <a:spcAft>
                <a:spcPts val="800"/>
              </a:spcAft>
              <a:defRPr sz="1500" b="1" i="0">
                <a:solidFill>
                  <a:srgbClr val="FFFFFF"/>
                </a:solidFill>
                <a:latin typeface="Calibri"/>
              </a:defRPr>
            </a:pPr>
            <a:r>
              <a:t>FAKE (spoof) the sender address to look legitimate.</a:t>
            </a:r>
          </a:p>
          <a:p>
            <a:pPr algn="l">
              <a:spcBef>
                <a:spcPts val="0"/>
              </a:spcBef>
              <a:spcAft>
                <a:spcPts val="600"/>
              </a:spcAft>
              <a:defRPr sz="1400" b="0" i="0">
                <a:solidFill>
                  <a:srgbClr val="CCCCCC"/>
                </a:solidFill>
                <a:latin typeface="Calibri"/>
              </a:defRPr>
            </a:pPr>
            <a:r>
              <a:t>This is why checking links and attachments is your</a:t>
            </a:r>
            <a:br/>
            <a:r>
              <a:t>ultimate line of defense — the "From" field can lie.</a:t>
            </a:r>
          </a:p>
        </p:txBody>
      </p:sp>
      <p:sp>
        <p:nvSpPr>
          <p:cNvPr id="8" name="Rounded Rectangle 7"/>
          <p:cNvSpPr/>
          <p:nvPr/>
        </p:nvSpPr>
        <p:spPr>
          <a:xfrm>
            <a:off x="731520" y="5394960"/>
            <a:ext cx="10725912" cy="1280160"/>
          </a:xfrm>
          <a:prstGeom prst="roundRect">
            <a:avLst/>
          </a:prstGeom>
          <a:solidFill>
            <a:srgbClr val="16213E"/>
          </a:solidFill>
          <a:ln w="19050">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800"/>
              </a:spcAft>
              <a:defRPr sz="1800" b="1" i="0">
                <a:solidFill>
                  <a:srgbClr val="44FF88"/>
                </a:solidFill>
                <a:latin typeface="Calibri"/>
              </a:defRPr>
            </a:pPr>
            <a:r>
              <a:t>🛡️  KEY TAKEAWAY</a:t>
            </a:r>
          </a:p>
          <a:p>
            <a:pPr algn="ctr">
              <a:spcBef>
                <a:spcPts val="0"/>
              </a:spcBef>
              <a:spcAft>
                <a:spcPts val="600"/>
              </a:spcAft>
              <a:defRPr sz="1600" b="0" i="0">
                <a:solidFill>
                  <a:srgbClr val="FFFFFF"/>
                </a:solidFill>
                <a:latin typeface="Calibri"/>
              </a:defRPr>
            </a:pPr>
            <a:r>
              <a:t>Even when the sender looks real and the email uses your name — ALWAYS check attachments and links. If you didn't request it, don't open it. Verify through official channels.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